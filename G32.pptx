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5" r:id="rId7"/>
    <p:sldId id="261" r:id="rId8"/>
    <p:sldId id="262" r:id="rId9"/>
    <p:sldId id="263" r:id="rId10"/>
    <p:sldId id="266"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515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4"/>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685800"/>
            <a:ext cx="12191695" cy="320040"/>
          </a:xfrm>
          <a:prstGeom prst="rect">
            <a:avLst/>
          </a:prstGeom>
          <a:noFill/>
          <a:ln/>
        </p:spPr>
        <p:txBody>
          <a:bodyPr wrap="square" rtlCol="0" anchor="ctr"/>
          <a:lstStyle/>
          <a:p>
            <a:pPr marL="0" indent="0" algn="ctr">
              <a:buNone/>
            </a:pPr>
            <a:r>
              <a:rPr lang="en-US" sz="1300" kern="0" spc="200" dirty="0">
                <a:solidFill>
                  <a:srgbClr val="6E6E6B"/>
                </a:solidFill>
                <a:latin typeface="Calibri" pitchFamily="34" charset="0"/>
                <a:ea typeface="Calibri" pitchFamily="34" charset="-122"/>
                <a:cs typeface="Calibri" pitchFamily="34" charset="-120"/>
              </a:rPr>
              <a:t>B.V.M. ENGINEERING COLLEGE   ·   COMPUTER ENGINEERING DEPARTMENT</a:t>
            </a:r>
            <a:endParaRPr lang="en-US" sz="1300" dirty="0"/>
          </a:p>
        </p:txBody>
      </p:sp>
      <p:sp>
        <p:nvSpPr>
          <p:cNvPr id="3" name="Shape 1"/>
          <p:cNvSpPr/>
          <p:nvPr/>
        </p:nvSpPr>
        <p:spPr>
          <a:xfrm>
            <a:off x="1737360" y="1097280"/>
            <a:ext cx="8716975" cy="0"/>
          </a:xfrm>
          <a:prstGeom prst="line">
            <a:avLst/>
          </a:prstGeom>
          <a:noFill/>
          <a:ln w="12700">
            <a:solidFill>
              <a:srgbClr val="DAD9D3"/>
            </a:solidFill>
            <a:prstDash val="solid"/>
          </a:ln>
        </p:spPr>
      </p:sp>
      <p:sp>
        <p:nvSpPr>
          <p:cNvPr id="4" name="Text 2"/>
          <p:cNvSpPr/>
          <p:nvPr/>
        </p:nvSpPr>
        <p:spPr>
          <a:xfrm>
            <a:off x="0" y="1965960"/>
            <a:ext cx="12191695" cy="274320"/>
          </a:xfrm>
          <a:prstGeom prst="rect">
            <a:avLst/>
          </a:prstGeom>
          <a:noFill/>
          <a:ln/>
        </p:spPr>
        <p:txBody>
          <a:bodyPr wrap="square" rtlCol="0" anchor="ctr"/>
          <a:lstStyle/>
          <a:p>
            <a:pPr marL="0" indent="0" algn="ctr">
              <a:buNone/>
            </a:pPr>
            <a:r>
              <a:rPr lang="en-US" sz="1100" b="1" kern="0" spc="300" dirty="0">
                <a:solidFill>
                  <a:srgbClr val="8A6D3F"/>
                </a:solidFill>
                <a:latin typeface="Calibri" pitchFamily="34" charset="0"/>
                <a:ea typeface="Calibri" pitchFamily="34" charset="-122"/>
                <a:cs typeface="Calibri" pitchFamily="34" charset="-120"/>
              </a:rPr>
              <a:t>PROJECT PROPOSAL</a:t>
            </a:r>
            <a:endParaRPr lang="en-US" sz="1100" dirty="0"/>
          </a:p>
        </p:txBody>
      </p:sp>
      <p:sp>
        <p:nvSpPr>
          <p:cNvPr id="5" name="Text 3"/>
          <p:cNvSpPr/>
          <p:nvPr/>
        </p:nvSpPr>
        <p:spPr>
          <a:xfrm>
            <a:off x="0" y="2286000"/>
            <a:ext cx="12191695" cy="777240"/>
          </a:xfrm>
          <a:prstGeom prst="rect">
            <a:avLst/>
          </a:prstGeom>
          <a:noFill/>
          <a:ln/>
        </p:spPr>
        <p:txBody>
          <a:bodyPr wrap="square" rtlCol="0" anchor="ctr"/>
          <a:lstStyle/>
          <a:p>
            <a:pPr marL="0" indent="0" algn="ctr">
              <a:buNone/>
            </a:pPr>
            <a:r>
              <a:rPr lang="en-US" sz="3400" b="1" dirty="0">
                <a:solidFill>
                  <a:srgbClr val="242422"/>
                </a:solidFill>
                <a:latin typeface="Cambria" pitchFamily="34" charset="0"/>
                <a:ea typeface="Cambria" pitchFamily="34" charset="-122"/>
                <a:cs typeface="Cambria" pitchFamily="34" charset="-120"/>
              </a:rPr>
              <a:t>Final Year Project Proposal</a:t>
            </a:r>
            <a:endParaRPr lang="en-US" sz="3400" dirty="0"/>
          </a:p>
        </p:txBody>
      </p:sp>
      <p:sp>
        <p:nvSpPr>
          <p:cNvPr id="6" name="Text 4"/>
          <p:cNvSpPr/>
          <p:nvPr/>
        </p:nvSpPr>
        <p:spPr>
          <a:xfrm>
            <a:off x="0" y="3063240"/>
            <a:ext cx="12191695" cy="457200"/>
          </a:xfrm>
          <a:prstGeom prst="rect">
            <a:avLst/>
          </a:prstGeom>
          <a:noFill/>
          <a:ln/>
        </p:spPr>
        <p:txBody>
          <a:bodyPr wrap="square" rtlCol="0" anchor="ctr"/>
          <a:lstStyle/>
          <a:p>
            <a:pPr marL="0" indent="0" algn="ctr">
              <a:buNone/>
            </a:pPr>
            <a:r>
              <a:rPr lang="en-US" sz="1700" i="1" dirty="0">
                <a:solidFill>
                  <a:srgbClr val="3E3E3B"/>
                </a:solidFill>
                <a:latin typeface="Cambria" pitchFamily="34" charset="0"/>
                <a:ea typeface="Cambria" pitchFamily="34" charset="-122"/>
                <a:cs typeface="Cambria" pitchFamily="34" charset="-120"/>
              </a:rPr>
              <a:t>Nirbhay(Women Security App)   &amp;   AI Scheme Navigator</a:t>
            </a:r>
            <a:endParaRPr lang="en-US" sz="1700" dirty="0"/>
          </a:p>
        </p:txBody>
      </p:sp>
      <p:sp>
        <p:nvSpPr>
          <p:cNvPr id="7" name="Text 5"/>
          <p:cNvSpPr/>
          <p:nvPr/>
        </p:nvSpPr>
        <p:spPr>
          <a:xfrm>
            <a:off x="0" y="3566160"/>
            <a:ext cx="12191695" cy="365760"/>
          </a:xfrm>
          <a:prstGeom prst="rect">
            <a:avLst/>
          </a:prstGeom>
          <a:noFill/>
          <a:ln/>
        </p:spPr>
        <p:txBody>
          <a:bodyPr wrap="square" rtlCol="0" anchor="ctr"/>
          <a:lstStyle/>
          <a:p>
            <a:pPr marL="0" indent="0" algn="ctr">
              <a:buNone/>
            </a:pPr>
            <a:endParaRPr lang="en-US" sz="1200" dirty="0"/>
          </a:p>
        </p:txBody>
      </p:sp>
      <p:sp>
        <p:nvSpPr>
          <p:cNvPr id="8" name="Shape 6"/>
          <p:cNvSpPr/>
          <p:nvPr/>
        </p:nvSpPr>
        <p:spPr>
          <a:xfrm>
            <a:off x="1737360" y="4709160"/>
            <a:ext cx="8716975" cy="0"/>
          </a:xfrm>
          <a:prstGeom prst="line">
            <a:avLst/>
          </a:prstGeom>
          <a:noFill/>
          <a:ln w="12700">
            <a:solidFill>
              <a:srgbClr val="DAD9D3"/>
            </a:solidFill>
            <a:prstDash val="solid"/>
          </a:ln>
        </p:spPr>
      </p:sp>
      <p:sp>
        <p:nvSpPr>
          <p:cNvPr id="9" name="Text 7"/>
          <p:cNvSpPr/>
          <p:nvPr/>
        </p:nvSpPr>
        <p:spPr>
          <a:xfrm>
            <a:off x="0" y="4937760"/>
            <a:ext cx="12191695" cy="274320"/>
          </a:xfrm>
          <a:prstGeom prst="rect">
            <a:avLst/>
          </a:prstGeom>
          <a:noFill/>
          <a:ln/>
        </p:spPr>
        <p:txBody>
          <a:bodyPr wrap="square" rtlCol="0" anchor="ctr"/>
          <a:lstStyle/>
          <a:p>
            <a:pPr marL="0" indent="0" algn="ctr">
              <a:buNone/>
            </a:pPr>
            <a:r>
              <a:rPr lang="en-US" sz="1050" kern="0" spc="200" dirty="0">
                <a:solidFill>
                  <a:srgbClr val="6E6E6B"/>
                </a:solidFill>
                <a:latin typeface="Calibri" pitchFamily="34" charset="0"/>
                <a:ea typeface="Calibri" pitchFamily="34" charset="-122"/>
                <a:cs typeface="Calibri" pitchFamily="34" charset="-120"/>
              </a:rPr>
              <a:t>SUBMITTED BY</a:t>
            </a:r>
            <a:endParaRPr lang="en-US" sz="1050" dirty="0"/>
          </a:p>
        </p:txBody>
      </p:sp>
      <p:sp>
        <p:nvSpPr>
          <p:cNvPr id="10" name="Text 8"/>
          <p:cNvSpPr/>
          <p:nvPr/>
        </p:nvSpPr>
        <p:spPr>
          <a:xfrm>
            <a:off x="0" y="5230368"/>
            <a:ext cx="12191695" cy="365760"/>
          </a:xfrm>
          <a:prstGeom prst="rect">
            <a:avLst/>
          </a:prstGeom>
          <a:noFill/>
          <a:ln/>
        </p:spPr>
        <p:txBody>
          <a:bodyPr wrap="square" rtlCol="0" anchor="ctr"/>
          <a:lstStyle/>
          <a:p>
            <a:pPr marL="0" indent="0" algn="ctr">
              <a:buNone/>
            </a:pPr>
            <a:r>
              <a:rPr lang="en-US" sz="1600" b="1" dirty="0">
                <a:solidFill>
                  <a:srgbClr val="242422"/>
                </a:solidFill>
                <a:latin typeface="Calibri" pitchFamily="34" charset="0"/>
                <a:ea typeface="Calibri" pitchFamily="34" charset="-122"/>
                <a:cs typeface="Calibri" pitchFamily="34" charset="-120"/>
              </a:rPr>
              <a:t>Dhwani Dalsania(24CP317)     ·     Isha </a:t>
            </a:r>
            <a:r>
              <a:rPr lang="en-US" sz="1600" b="1" dirty="0" err="1">
                <a:solidFill>
                  <a:srgbClr val="242422"/>
                </a:solidFill>
                <a:latin typeface="Calibri" pitchFamily="34" charset="0"/>
                <a:ea typeface="Calibri" pitchFamily="34" charset="-122"/>
                <a:cs typeface="Calibri" pitchFamily="34" charset="-120"/>
              </a:rPr>
              <a:t>Zalavadia</a:t>
            </a:r>
            <a:r>
              <a:rPr lang="en-US" sz="1600" b="1" dirty="0">
                <a:solidFill>
                  <a:srgbClr val="242422"/>
                </a:solidFill>
                <a:latin typeface="Calibri" pitchFamily="34" charset="0"/>
                <a:ea typeface="Calibri" pitchFamily="34" charset="-122"/>
                <a:cs typeface="Calibri" pitchFamily="34" charset="-120"/>
              </a:rPr>
              <a:t> (24CP316)</a:t>
            </a:r>
            <a:endParaRPr lang="en-US" sz="1600" dirty="0"/>
          </a:p>
        </p:txBody>
      </p:sp>
      <p:sp>
        <p:nvSpPr>
          <p:cNvPr id="11" name="Text 9"/>
          <p:cNvSpPr/>
          <p:nvPr/>
        </p:nvSpPr>
        <p:spPr>
          <a:xfrm>
            <a:off x="0" y="5623560"/>
            <a:ext cx="12191695" cy="320040"/>
          </a:xfrm>
          <a:prstGeom prst="rect">
            <a:avLst/>
          </a:prstGeom>
          <a:noFill/>
          <a:ln/>
        </p:spPr>
        <p:txBody>
          <a:bodyPr wrap="square" rtlCol="0" anchor="ctr"/>
          <a:lstStyle/>
          <a:p>
            <a:pPr marL="0" indent="0" algn="ctr">
              <a:buNone/>
            </a:pPr>
            <a:r>
              <a:rPr lang="en-US" sz="1200" dirty="0">
                <a:solidFill>
                  <a:srgbClr val="6E6E6B"/>
                </a:solidFill>
                <a:latin typeface="Calibri" pitchFamily="34" charset="0"/>
                <a:ea typeface="Calibri" pitchFamily="34" charset="-122"/>
                <a:cs typeface="Calibri" pitchFamily="34" charset="-120"/>
              </a:rPr>
              <a:t>Course Code 4CP31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57200"/>
            <a:ext cx="1828800" cy="36576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0.1</a:t>
            </a:r>
            <a:endParaRPr lang="en-US" sz="1300" dirty="0"/>
          </a:p>
        </p:txBody>
      </p:sp>
      <p:sp>
        <p:nvSpPr>
          <p:cNvPr id="3" name="Text 1"/>
          <p:cNvSpPr/>
          <p:nvPr/>
        </p:nvSpPr>
        <p:spPr>
          <a:xfrm>
            <a:off x="640080" y="777240"/>
            <a:ext cx="10058400" cy="548640"/>
          </a:xfrm>
          <a:prstGeom prst="rect">
            <a:avLst/>
          </a:prstGeom>
          <a:noFill/>
          <a:ln/>
        </p:spPr>
        <p:txBody>
          <a:bodyPr wrap="square" rtlCol="0" anchor="ctr"/>
          <a:lstStyle/>
          <a:p>
            <a:pPr marL="0" indent="0">
              <a:buNone/>
            </a:pPr>
            <a:r>
              <a:rPr lang="en-US" sz="2700" b="1" dirty="0">
                <a:solidFill>
                  <a:srgbClr val="242422"/>
                </a:solidFill>
                <a:latin typeface="Cambria" pitchFamily="34" charset="0"/>
                <a:ea typeface="Cambria" pitchFamily="34" charset="-122"/>
                <a:cs typeface="Cambria" pitchFamily="34" charset="-120"/>
              </a:rPr>
              <a:t>What Problem Is Each Idea Solving?</a:t>
            </a:r>
            <a:endParaRPr lang="en-US" sz="2700" dirty="0"/>
          </a:p>
        </p:txBody>
      </p:sp>
      <p:sp>
        <p:nvSpPr>
          <p:cNvPr id="5" name="Shape 3"/>
          <p:cNvSpPr/>
          <p:nvPr/>
        </p:nvSpPr>
        <p:spPr>
          <a:xfrm>
            <a:off x="640080" y="1874520"/>
            <a:ext cx="45720" cy="1783080"/>
          </a:xfrm>
          <a:prstGeom prst="rect">
            <a:avLst/>
          </a:prstGeom>
          <a:solidFill>
            <a:srgbClr val="8A6D3F"/>
          </a:solidFill>
          <a:ln/>
        </p:spPr>
      </p:sp>
      <p:sp>
        <p:nvSpPr>
          <p:cNvPr id="6" name="Text 4"/>
          <p:cNvSpPr/>
          <p:nvPr/>
        </p:nvSpPr>
        <p:spPr>
          <a:xfrm>
            <a:off x="914400" y="1892808"/>
            <a:ext cx="8229600" cy="320040"/>
          </a:xfrm>
          <a:prstGeom prst="rect">
            <a:avLst/>
          </a:prstGeom>
          <a:noFill/>
          <a:ln/>
        </p:spPr>
        <p:txBody>
          <a:bodyPr wrap="square" rtlCol="0" anchor="ctr"/>
          <a:lstStyle/>
          <a:p>
            <a:pPr marL="0" indent="0">
              <a:buNone/>
            </a:pPr>
            <a:r>
              <a:rPr lang="en-US" sz="1500" b="1" kern="0" spc="50" dirty="0">
                <a:solidFill>
                  <a:srgbClr val="242422"/>
                </a:solidFill>
                <a:latin typeface="Calibri" pitchFamily="34" charset="0"/>
                <a:ea typeface="Calibri" pitchFamily="34" charset="-122"/>
                <a:cs typeface="Calibri" pitchFamily="34" charset="-120"/>
              </a:rPr>
              <a:t>SAFETY IN PUBLIC SPACES  ·  Nirbhay(Women Security App)</a:t>
            </a:r>
            <a:endParaRPr lang="en-US" sz="1500" dirty="0"/>
          </a:p>
        </p:txBody>
      </p:sp>
      <p:sp>
        <p:nvSpPr>
          <p:cNvPr id="7" name="Text 5"/>
          <p:cNvSpPr/>
          <p:nvPr/>
        </p:nvSpPr>
        <p:spPr>
          <a:xfrm>
            <a:off x="914400" y="2258568"/>
            <a:ext cx="9692640" cy="914400"/>
          </a:xfrm>
          <a:prstGeom prst="rect">
            <a:avLst/>
          </a:prstGeom>
          <a:noFill/>
          <a:ln/>
        </p:spPr>
        <p:txBody>
          <a:bodyPr wrap="square" rtlCol="0" anchor="ctr"/>
          <a:lstStyle/>
          <a:p>
            <a:pPr marL="0" indent="0" algn="just">
              <a:lnSpc>
                <a:spcPct val="125000"/>
              </a:lnSpc>
              <a:buNone/>
            </a:pPr>
            <a:r>
              <a:rPr lang="en-US" sz="1500" dirty="0">
                <a:solidFill>
                  <a:srgbClr val="3E3E3B"/>
                </a:solidFill>
                <a:latin typeface="Calibri" pitchFamily="34" charset="0"/>
                <a:ea typeface="Calibri" pitchFamily="34" charset="-122"/>
                <a:cs typeface="Calibri" pitchFamily="34" charset="-120"/>
              </a:rPr>
              <a:t>In an emergency, most personal safety apps ask a user to unlock their phone, find the right app, and tap through menus — precious seconds a person under threat rarely has. Very few also give people a way to warn each other about places that are already known to be unsafe.</a:t>
            </a:r>
            <a:endParaRPr lang="en-US" sz="1500" dirty="0"/>
          </a:p>
        </p:txBody>
      </p:sp>
      <p:sp>
        <p:nvSpPr>
          <p:cNvPr id="9" name="Shape 7"/>
          <p:cNvSpPr/>
          <p:nvPr/>
        </p:nvSpPr>
        <p:spPr>
          <a:xfrm>
            <a:off x="640080" y="3977640"/>
            <a:ext cx="45720" cy="1783080"/>
          </a:xfrm>
          <a:prstGeom prst="rect">
            <a:avLst/>
          </a:prstGeom>
          <a:solidFill>
            <a:srgbClr val="8A6D3F"/>
          </a:solidFill>
          <a:ln/>
        </p:spPr>
      </p:sp>
      <p:sp>
        <p:nvSpPr>
          <p:cNvPr id="10" name="Text 8"/>
          <p:cNvSpPr/>
          <p:nvPr/>
        </p:nvSpPr>
        <p:spPr>
          <a:xfrm>
            <a:off x="914400" y="3995928"/>
            <a:ext cx="8686800" cy="320040"/>
          </a:xfrm>
          <a:prstGeom prst="rect">
            <a:avLst/>
          </a:prstGeom>
          <a:noFill/>
          <a:ln/>
        </p:spPr>
        <p:txBody>
          <a:bodyPr wrap="square" rtlCol="0" anchor="ctr"/>
          <a:lstStyle/>
          <a:p>
            <a:pPr marL="0" indent="0">
              <a:buNone/>
            </a:pPr>
            <a:r>
              <a:rPr lang="en-US" sz="1500" b="1" kern="0" spc="50" dirty="0">
                <a:solidFill>
                  <a:srgbClr val="242422"/>
                </a:solidFill>
                <a:latin typeface="Calibri" pitchFamily="34" charset="0"/>
                <a:ea typeface="Calibri" pitchFamily="34" charset="-122"/>
                <a:cs typeface="Calibri" pitchFamily="34" charset="-120"/>
              </a:rPr>
              <a:t>ACCESS TO GOVERNMENT SCHEMES  ·  AI SCHEME NAVIGATOR</a:t>
            </a:r>
            <a:endParaRPr lang="en-US" sz="1500" dirty="0"/>
          </a:p>
        </p:txBody>
      </p:sp>
      <p:sp>
        <p:nvSpPr>
          <p:cNvPr id="11" name="Text 9"/>
          <p:cNvSpPr/>
          <p:nvPr/>
        </p:nvSpPr>
        <p:spPr>
          <a:xfrm>
            <a:off x="914400" y="4361688"/>
            <a:ext cx="9692640" cy="914400"/>
          </a:xfrm>
          <a:prstGeom prst="rect">
            <a:avLst/>
          </a:prstGeom>
          <a:noFill/>
          <a:ln/>
        </p:spPr>
        <p:txBody>
          <a:bodyPr wrap="square" rtlCol="0" anchor="ctr"/>
          <a:lstStyle/>
          <a:p>
            <a:pPr algn="just">
              <a:lnSpc>
                <a:spcPct val="125000"/>
              </a:lnSpc>
            </a:pPr>
            <a:r>
              <a:rPr lang="en-US" sz="1500" dirty="0">
                <a:solidFill>
                  <a:srgbClr val="3E3E3B"/>
                </a:solidFill>
                <a:latin typeface="Calibri" pitchFamily="34" charset="0"/>
                <a:ea typeface="Calibri" pitchFamily="34" charset="-122"/>
                <a:cs typeface="Calibri" pitchFamily="34" charset="-120"/>
              </a:rPr>
              <a:t>Pension, subsidy, health and education schemes exist for many citizens — but the portals describing them are text-heavy, mostly in English, and written in legal language. Elderly and rural users who can't read complex forms often never find out they qualify at 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778240" y="-320040"/>
            <a:ext cx="3108960" cy="2011680"/>
          </a:xfrm>
          <a:prstGeom prst="rect">
            <a:avLst/>
          </a:prstGeom>
          <a:noFill/>
          <a:ln/>
        </p:spPr>
        <p:txBody>
          <a:bodyPr wrap="square" rtlCol="0" anchor="ctr"/>
          <a:lstStyle/>
          <a:p>
            <a:pPr marL="0" indent="0" algn="r">
              <a:buNone/>
            </a:pPr>
            <a:r>
              <a:rPr lang="en-US" sz="12000" b="1" dirty="0">
                <a:solidFill>
                  <a:srgbClr val="EBE9E2"/>
                </a:solidFill>
                <a:latin typeface="Cambria" pitchFamily="34" charset="0"/>
                <a:ea typeface="Cambria" pitchFamily="34" charset="-122"/>
                <a:cs typeface="Cambria" pitchFamily="34" charset="-120"/>
              </a:rPr>
              <a:t>1.0</a:t>
            </a:r>
            <a:endParaRPr lang="en-US" sz="12000" dirty="0"/>
          </a:p>
        </p:txBody>
      </p:sp>
      <p:sp>
        <p:nvSpPr>
          <p:cNvPr id="3" name="Text 1"/>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1.0</a:t>
            </a:r>
            <a:endParaRPr lang="en-US" sz="1300" dirty="0"/>
          </a:p>
        </p:txBody>
      </p:sp>
      <p:sp>
        <p:nvSpPr>
          <p:cNvPr id="4" name="Text 2"/>
          <p:cNvSpPr/>
          <p:nvPr/>
        </p:nvSpPr>
        <p:spPr>
          <a:xfrm>
            <a:off x="640080" y="822960"/>
            <a:ext cx="7772400" cy="640080"/>
          </a:xfrm>
          <a:prstGeom prst="rect">
            <a:avLst/>
          </a:prstGeom>
          <a:noFill/>
          <a:ln/>
        </p:spPr>
        <p:txBody>
          <a:bodyPr wrap="square" rtlCol="0" anchor="ctr"/>
          <a:lstStyle/>
          <a:p>
            <a:pPr marL="0" indent="0">
              <a:buNone/>
            </a:pPr>
            <a:r>
              <a:rPr lang="en-US" sz="2900" b="1" dirty="0">
                <a:solidFill>
                  <a:srgbClr val="242422"/>
                </a:solidFill>
                <a:latin typeface="Cambria" pitchFamily="34" charset="0"/>
                <a:ea typeface="Cambria" pitchFamily="34" charset="-122"/>
                <a:cs typeface="Cambria" pitchFamily="34" charset="-120"/>
              </a:rPr>
              <a:t>Nirbhay(Women Security App)</a:t>
            </a:r>
            <a:endParaRPr lang="en-US" sz="2900" dirty="0"/>
          </a:p>
        </p:txBody>
      </p:sp>
      <p:sp>
        <p:nvSpPr>
          <p:cNvPr id="5" name="Text 3"/>
          <p:cNvSpPr/>
          <p:nvPr/>
        </p:nvSpPr>
        <p:spPr>
          <a:xfrm>
            <a:off x="640080" y="1417320"/>
            <a:ext cx="7772400" cy="320040"/>
          </a:xfrm>
          <a:prstGeom prst="rect">
            <a:avLst/>
          </a:prstGeom>
          <a:noFill/>
          <a:ln/>
        </p:spPr>
        <p:txBody>
          <a:bodyPr wrap="square" rtlCol="0" anchor="ctr"/>
          <a:lstStyle/>
          <a:p>
            <a:pPr marL="0" indent="0">
              <a:buNone/>
            </a:pPr>
            <a:r>
              <a:rPr lang="en-US" sz="1300" i="1" dirty="0">
                <a:solidFill>
                  <a:srgbClr val="6E6E6B"/>
                </a:solidFill>
                <a:latin typeface="Calibri" pitchFamily="34" charset="0"/>
                <a:ea typeface="Calibri" pitchFamily="34" charset="-122"/>
                <a:cs typeface="Calibri" pitchFamily="34" charset="-120"/>
              </a:rPr>
              <a:t>Women's Safety &amp; Emergency Response</a:t>
            </a:r>
            <a:endParaRPr lang="en-US" sz="1300" dirty="0"/>
          </a:p>
        </p:txBody>
      </p:sp>
      <p:sp>
        <p:nvSpPr>
          <p:cNvPr id="6" name="Shape 4"/>
          <p:cNvSpPr/>
          <p:nvPr/>
        </p:nvSpPr>
        <p:spPr>
          <a:xfrm>
            <a:off x="640080" y="1920240"/>
            <a:ext cx="10881360" cy="0"/>
          </a:xfrm>
          <a:prstGeom prst="line">
            <a:avLst/>
          </a:prstGeom>
          <a:noFill/>
          <a:ln w="12700">
            <a:solidFill>
              <a:srgbClr val="DAD9D3"/>
            </a:solidFill>
            <a:prstDash val="solid"/>
          </a:ln>
        </p:spPr>
      </p:sp>
      <p:sp>
        <p:nvSpPr>
          <p:cNvPr id="7" name="Text 5"/>
          <p:cNvSpPr/>
          <p:nvPr/>
        </p:nvSpPr>
        <p:spPr>
          <a:xfrm>
            <a:off x="640080" y="2084832"/>
            <a:ext cx="2743200" cy="274320"/>
          </a:xfrm>
          <a:prstGeom prst="rect">
            <a:avLst/>
          </a:prstGeom>
          <a:noFill/>
          <a:ln/>
        </p:spPr>
        <p:txBody>
          <a:bodyPr wrap="square" rtlCol="0" anchor="ctr"/>
          <a:lstStyle/>
          <a:p>
            <a:pPr marL="0" indent="0">
              <a:buNone/>
            </a:pPr>
            <a:r>
              <a:rPr lang="en-US" sz="1300" b="1" kern="0" spc="200" dirty="0">
                <a:solidFill>
                  <a:srgbClr val="8A6D3F"/>
                </a:solidFill>
                <a:latin typeface="Calibri" pitchFamily="34" charset="0"/>
                <a:ea typeface="Calibri" pitchFamily="34" charset="-122"/>
                <a:cs typeface="Calibri" pitchFamily="34" charset="-120"/>
              </a:rPr>
              <a:t>ABSTRACT</a:t>
            </a:r>
            <a:endParaRPr lang="en-US" sz="1300" dirty="0"/>
          </a:p>
        </p:txBody>
      </p:sp>
      <p:sp>
        <p:nvSpPr>
          <p:cNvPr id="8" name="Text 6"/>
          <p:cNvSpPr/>
          <p:nvPr/>
        </p:nvSpPr>
        <p:spPr>
          <a:xfrm>
            <a:off x="640080" y="2423160"/>
            <a:ext cx="10881360" cy="2103120"/>
          </a:xfrm>
          <a:prstGeom prst="rect">
            <a:avLst/>
          </a:prstGeom>
          <a:noFill/>
          <a:ln/>
        </p:spPr>
        <p:txBody>
          <a:bodyPr wrap="square" rtlCol="0" anchor="t"/>
          <a:lstStyle/>
          <a:p>
            <a:pPr marL="0" indent="0" algn="just">
              <a:lnSpc>
                <a:spcPct val="128000"/>
              </a:lnSpc>
              <a:buNone/>
            </a:pPr>
            <a:r>
              <a:rPr lang="en-US" sz="1500" dirty="0">
                <a:solidFill>
                  <a:srgbClr val="3E3E3B"/>
                </a:solidFill>
                <a:latin typeface="Calibri" pitchFamily="34" charset="0"/>
                <a:ea typeface="Calibri" pitchFamily="34" charset="-122"/>
                <a:cs typeface="Calibri" pitchFamily="34" charset="-120"/>
              </a:rPr>
              <a:t>Nirbhay(Women Security App) is a Flutter-based mobile application designed to enhance women's safety by providing quick access to emergency assistance. The app allows users to send SOS alerts with their live location to trusted contacts, and trigger alerts through voice commands or a phone shake gesture — no fumbling through menus in a crisis. It also includes a community safety module, where users can report unsafe locations, view a shared safety heatmap, and read safety tips contributed by others nearby. Together with supporting features like live location tracking, safety timers, and a locator for nearby emergency services, the app aims to improve personal safety through faster communication, faster response, and better collective awareness of unsafe areas.</a:t>
            </a:r>
            <a:endParaRPr lang="en-US" sz="1500" dirty="0"/>
          </a:p>
        </p:txBody>
      </p:sp>
      <p:sp>
        <p:nvSpPr>
          <p:cNvPr id="9" name="Shape 7"/>
          <p:cNvSpPr/>
          <p:nvPr/>
        </p:nvSpPr>
        <p:spPr>
          <a:xfrm>
            <a:off x="640080" y="4800600"/>
            <a:ext cx="10881360" cy="0"/>
          </a:xfrm>
          <a:prstGeom prst="line">
            <a:avLst/>
          </a:prstGeom>
          <a:noFill/>
          <a:ln w="12700">
            <a:solidFill>
              <a:srgbClr val="DAD9D3"/>
            </a:solidFill>
            <a:prstDash val="solid"/>
          </a:ln>
        </p:spPr>
      </p:sp>
      <p:sp>
        <p:nvSpPr>
          <p:cNvPr id="10" name="Text 8"/>
          <p:cNvSpPr/>
          <p:nvPr/>
        </p:nvSpPr>
        <p:spPr>
          <a:xfrm>
            <a:off x="640080" y="4956048"/>
            <a:ext cx="3520440" cy="274320"/>
          </a:xfrm>
          <a:prstGeom prst="rect">
            <a:avLst/>
          </a:prstGeom>
          <a:noFill/>
          <a:ln/>
        </p:spPr>
        <p:txBody>
          <a:bodyPr wrap="square" rtlCol="0" anchor="ctr"/>
          <a:lstStyle/>
          <a:p>
            <a:pPr marL="0" indent="0">
              <a:buNone/>
            </a:pPr>
            <a:r>
              <a:rPr lang="en-US" sz="1050" b="1" kern="0" spc="100" dirty="0">
                <a:solidFill>
                  <a:srgbClr val="6E6E6B"/>
                </a:solidFill>
                <a:latin typeface="Calibri" pitchFamily="34" charset="0"/>
                <a:ea typeface="Calibri" pitchFamily="34" charset="-122"/>
                <a:cs typeface="Calibri" pitchFamily="34" charset="-120"/>
              </a:rPr>
              <a:t>TARGET USERS</a:t>
            </a:r>
            <a:endParaRPr lang="en-US" sz="1050" dirty="0"/>
          </a:p>
        </p:txBody>
      </p:sp>
      <p:sp>
        <p:nvSpPr>
          <p:cNvPr id="11" name="Text 9"/>
          <p:cNvSpPr/>
          <p:nvPr/>
        </p:nvSpPr>
        <p:spPr>
          <a:xfrm>
            <a:off x="640080" y="5230368"/>
            <a:ext cx="3520440" cy="548640"/>
          </a:xfrm>
          <a:prstGeom prst="rect">
            <a:avLst/>
          </a:prstGeom>
          <a:noFill/>
          <a:ln/>
        </p:spPr>
        <p:txBody>
          <a:bodyPr wrap="square" rtlCol="0" anchor="t"/>
          <a:lstStyle/>
          <a:p>
            <a:pPr marL="0" indent="0">
              <a:buNone/>
            </a:pPr>
            <a:r>
              <a:rPr lang="en-US" sz="1550" b="1" dirty="0">
                <a:solidFill>
                  <a:srgbClr val="242422"/>
                </a:solidFill>
                <a:latin typeface="Cambria" pitchFamily="34" charset="0"/>
                <a:ea typeface="Cambria" pitchFamily="34" charset="-122"/>
                <a:cs typeface="Cambria" pitchFamily="34" charset="-120"/>
              </a:rPr>
              <a:t>Women commuters &amp; students</a:t>
            </a:r>
            <a:endParaRPr lang="en-US" sz="1550" dirty="0"/>
          </a:p>
        </p:txBody>
      </p:sp>
      <p:sp>
        <p:nvSpPr>
          <p:cNvPr id="12" name="Text 10"/>
          <p:cNvSpPr/>
          <p:nvPr/>
        </p:nvSpPr>
        <p:spPr>
          <a:xfrm>
            <a:off x="4343400" y="4956048"/>
            <a:ext cx="3520440" cy="274320"/>
          </a:xfrm>
          <a:prstGeom prst="rect">
            <a:avLst/>
          </a:prstGeom>
          <a:noFill/>
          <a:ln/>
        </p:spPr>
        <p:txBody>
          <a:bodyPr wrap="square" rtlCol="0" anchor="ctr"/>
          <a:lstStyle/>
          <a:p>
            <a:pPr marL="0" indent="0">
              <a:buNone/>
            </a:pPr>
            <a:r>
              <a:rPr lang="en-US" sz="1050" b="1" kern="0" spc="100" dirty="0">
                <a:solidFill>
                  <a:srgbClr val="6E6E6B"/>
                </a:solidFill>
                <a:latin typeface="Calibri" pitchFamily="34" charset="0"/>
                <a:ea typeface="Calibri" pitchFamily="34" charset="-122"/>
                <a:cs typeface="Calibri" pitchFamily="34" charset="-120"/>
              </a:rPr>
              <a:t>CORE IDEA</a:t>
            </a:r>
            <a:endParaRPr lang="en-US" sz="1050" dirty="0"/>
          </a:p>
        </p:txBody>
      </p:sp>
      <p:sp>
        <p:nvSpPr>
          <p:cNvPr id="13" name="Text 11"/>
          <p:cNvSpPr/>
          <p:nvPr/>
        </p:nvSpPr>
        <p:spPr>
          <a:xfrm>
            <a:off x="4343400" y="5230368"/>
            <a:ext cx="3520440" cy="548640"/>
          </a:xfrm>
          <a:prstGeom prst="rect">
            <a:avLst/>
          </a:prstGeom>
          <a:noFill/>
          <a:ln/>
        </p:spPr>
        <p:txBody>
          <a:bodyPr wrap="square" rtlCol="0" anchor="t"/>
          <a:lstStyle/>
          <a:p>
            <a:pPr marL="0" indent="0">
              <a:buNone/>
            </a:pPr>
            <a:r>
              <a:rPr lang="en-US" sz="1550" b="1" dirty="0">
                <a:solidFill>
                  <a:srgbClr val="242422"/>
                </a:solidFill>
                <a:latin typeface="Cambria" pitchFamily="34" charset="0"/>
                <a:ea typeface="Cambria" pitchFamily="34" charset="-122"/>
                <a:cs typeface="Cambria" pitchFamily="34" charset="-120"/>
              </a:rPr>
              <a:t>One trigger, instant alert</a:t>
            </a:r>
            <a:endParaRPr lang="en-US" sz="1550" dirty="0"/>
          </a:p>
        </p:txBody>
      </p:sp>
      <p:sp>
        <p:nvSpPr>
          <p:cNvPr id="14" name="Shape 12"/>
          <p:cNvSpPr/>
          <p:nvPr/>
        </p:nvSpPr>
        <p:spPr>
          <a:xfrm>
            <a:off x="4160520" y="4956048"/>
            <a:ext cx="0" cy="822960"/>
          </a:xfrm>
          <a:prstGeom prst="line">
            <a:avLst/>
          </a:prstGeom>
          <a:noFill/>
          <a:ln w="12700">
            <a:solidFill>
              <a:srgbClr val="DAD9D3"/>
            </a:solidFill>
            <a:prstDash val="solid"/>
          </a:ln>
        </p:spPr>
      </p:sp>
      <p:sp>
        <p:nvSpPr>
          <p:cNvPr id="15" name="Text 13"/>
          <p:cNvSpPr/>
          <p:nvPr/>
        </p:nvSpPr>
        <p:spPr>
          <a:xfrm>
            <a:off x="8046720" y="4956048"/>
            <a:ext cx="3520440" cy="274320"/>
          </a:xfrm>
          <a:prstGeom prst="rect">
            <a:avLst/>
          </a:prstGeom>
          <a:noFill/>
          <a:ln/>
        </p:spPr>
        <p:txBody>
          <a:bodyPr wrap="square" rtlCol="0" anchor="ctr"/>
          <a:lstStyle/>
          <a:p>
            <a:pPr marL="0" indent="0">
              <a:buNone/>
            </a:pPr>
            <a:r>
              <a:rPr lang="en-US" sz="1050" b="1" kern="0" spc="100" dirty="0">
                <a:solidFill>
                  <a:srgbClr val="6E6E6B"/>
                </a:solidFill>
                <a:latin typeface="Calibri" pitchFamily="34" charset="0"/>
                <a:ea typeface="Calibri" pitchFamily="34" charset="-122"/>
                <a:cs typeface="Calibri" pitchFamily="34" charset="-120"/>
              </a:rPr>
              <a:t>KEY TECH</a:t>
            </a:r>
            <a:endParaRPr lang="en-US" sz="1050" dirty="0"/>
          </a:p>
        </p:txBody>
      </p:sp>
      <p:sp>
        <p:nvSpPr>
          <p:cNvPr id="16" name="Text 14"/>
          <p:cNvSpPr/>
          <p:nvPr/>
        </p:nvSpPr>
        <p:spPr>
          <a:xfrm>
            <a:off x="8046720" y="5230368"/>
            <a:ext cx="3520440" cy="548640"/>
          </a:xfrm>
          <a:prstGeom prst="rect">
            <a:avLst/>
          </a:prstGeom>
          <a:noFill/>
          <a:ln/>
        </p:spPr>
        <p:txBody>
          <a:bodyPr wrap="square" rtlCol="0" anchor="t"/>
          <a:lstStyle/>
          <a:p>
            <a:pPr marL="0" indent="0">
              <a:buNone/>
            </a:pPr>
            <a:r>
              <a:rPr lang="en-US" sz="1550" b="1" dirty="0">
                <a:solidFill>
                  <a:srgbClr val="242422"/>
                </a:solidFill>
                <a:latin typeface="Cambria" pitchFamily="34" charset="0"/>
                <a:ea typeface="Cambria" pitchFamily="34" charset="-122"/>
                <a:cs typeface="Cambria" pitchFamily="34" charset="-120"/>
              </a:rPr>
              <a:t>GPS, on-device sensors, Flutter</a:t>
            </a:r>
            <a:endParaRPr lang="en-US" sz="1550" dirty="0"/>
          </a:p>
        </p:txBody>
      </p:sp>
      <p:sp>
        <p:nvSpPr>
          <p:cNvPr id="17" name="Shape 15"/>
          <p:cNvSpPr/>
          <p:nvPr/>
        </p:nvSpPr>
        <p:spPr>
          <a:xfrm>
            <a:off x="7863840" y="4956048"/>
            <a:ext cx="0" cy="822960"/>
          </a:xfrm>
          <a:prstGeom prst="line">
            <a:avLst/>
          </a:prstGeom>
          <a:noFill/>
          <a:ln w="12700">
            <a:solidFill>
              <a:srgbClr val="DAD9D3"/>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1.1</a:t>
            </a:r>
            <a:endParaRPr lang="en-US" sz="1300" dirty="0"/>
          </a:p>
        </p:txBody>
      </p:sp>
      <p:sp>
        <p:nvSpPr>
          <p:cNvPr id="3" name="Text 1"/>
          <p:cNvSpPr/>
          <p:nvPr/>
        </p:nvSpPr>
        <p:spPr>
          <a:xfrm>
            <a:off x="640080" y="822960"/>
            <a:ext cx="10515600" cy="594360"/>
          </a:xfrm>
          <a:prstGeom prst="rect">
            <a:avLst/>
          </a:prstGeom>
          <a:noFill/>
          <a:ln/>
        </p:spPr>
        <p:txBody>
          <a:bodyPr wrap="square" rtlCol="0" anchor="ctr"/>
          <a:lstStyle/>
          <a:p>
            <a:pPr marL="0" indent="0">
              <a:buNone/>
            </a:pPr>
            <a:r>
              <a:rPr lang="en-US" sz="2400" b="1" dirty="0">
                <a:solidFill>
                  <a:srgbClr val="242422"/>
                </a:solidFill>
                <a:latin typeface="Cambria" pitchFamily="34" charset="0"/>
                <a:ea typeface="Cambria" pitchFamily="34" charset="-122"/>
                <a:cs typeface="Cambria" pitchFamily="34" charset="-120"/>
              </a:rPr>
              <a:t>From Threat to Response</a:t>
            </a:r>
            <a:endParaRPr lang="en-US" sz="2400" dirty="0"/>
          </a:p>
        </p:txBody>
      </p:sp>
      <p:sp>
        <p:nvSpPr>
          <p:cNvPr id="4" name="Shape 2"/>
          <p:cNvSpPr/>
          <p:nvPr/>
        </p:nvSpPr>
        <p:spPr>
          <a:xfrm>
            <a:off x="2986888" y="2377440"/>
            <a:ext cx="1737360" cy="1371600"/>
          </a:xfrm>
          <a:prstGeom prst="rect">
            <a:avLst/>
          </a:prstGeom>
          <a:solidFill>
            <a:srgbClr val="FFFFFF"/>
          </a:solidFill>
          <a:ln w="15875">
            <a:solidFill>
              <a:srgbClr val="DAD9D3"/>
            </a:solidFill>
            <a:prstDash val="solid"/>
          </a:ln>
        </p:spPr>
      </p:sp>
      <p:sp>
        <p:nvSpPr>
          <p:cNvPr id="5" name="Text 3"/>
          <p:cNvSpPr/>
          <p:nvPr/>
        </p:nvSpPr>
        <p:spPr>
          <a:xfrm>
            <a:off x="3124048" y="2468880"/>
            <a:ext cx="731520" cy="27432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01</a:t>
            </a:r>
            <a:endParaRPr lang="en-US" sz="1100" dirty="0"/>
          </a:p>
        </p:txBody>
      </p:sp>
      <p:pic>
        <p:nvPicPr>
          <p:cNvPr id="6" name="Image 0" descr="preencoded.png"/>
          <p:cNvPicPr>
            <a:picLocks noChangeAspect="1"/>
          </p:cNvPicPr>
          <p:nvPr/>
        </p:nvPicPr>
        <p:blipFill>
          <a:blip r:embed="rId3"/>
          <a:stretch>
            <a:fillRect/>
          </a:stretch>
        </p:blipFill>
        <p:spPr>
          <a:xfrm>
            <a:off x="3599536" y="2816352"/>
            <a:ext cx="512064" cy="512064"/>
          </a:xfrm>
          <a:prstGeom prst="rect">
            <a:avLst/>
          </a:prstGeom>
        </p:spPr>
      </p:pic>
      <p:sp>
        <p:nvSpPr>
          <p:cNvPr id="7" name="Text 4"/>
          <p:cNvSpPr/>
          <p:nvPr/>
        </p:nvSpPr>
        <p:spPr>
          <a:xfrm>
            <a:off x="2986888" y="3364992"/>
            <a:ext cx="1737360" cy="329184"/>
          </a:xfrm>
          <a:prstGeom prst="rect">
            <a:avLst/>
          </a:prstGeom>
          <a:noFill/>
          <a:ln/>
        </p:spPr>
        <p:txBody>
          <a:bodyPr wrap="square" rtlCol="0" anchor="ctr"/>
          <a:lstStyle/>
          <a:p>
            <a:pPr marL="0" indent="0" algn="ctr">
              <a:buNone/>
            </a:pPr>
            <a:r>
              <a:rPr lang="en-US" sz="1350" b="1" dirty="0">
                <a:solidFill>
                  <a:srgbClr val="242422"/>
                </a:solidFill>
                <a:latin typeface="Cambria" pitchFamily="34" charset="0"/>
                <a:ea typeface="Cambria" pitchFamily="34" charset="-122"/>
                <a:cs typeface="Cambria" pitchFamily="34" charset="-120"/>
              </a:rPr>
              <a:t>Trigger</a:t>
            </a:r>
            <a:endParaRPr lang="en-US" sz="1350" dirty="0"/>
          </a:p>
        </p:txBody>
      </p:sp>
      <p:sp>
        <p:nvSpPr>
          <p:cNvPr id="8" name="Text 5"/>
          <p:cNvSpPr/>
          <p:nvPr/>
        </p:nvSpPr>
        <p:spPr>
          <a:xfrm>
            <a:off x="2758288" y="3977640"/>
            <a:ext cx="2194560" cy="1188720"/>
          </a:xfrm>
          <a:prstGeom prst="rect">
            <a:avLst/>
          </a:prstGeom>
          <a:noFill/>
          <a:ln/>
        </p:spPr>
        <p:txBody>
          <a:bodyPr wrap="square" rtlCol="0" anchor="t"/>
          <a:lstStyle/>
          <a:p>
            <a:pPr marL="0" indent="0" algn="ctr">
              <a:lnSpc>
                <a:spcPct val="115000"/>
              </a:lnSpc>
              <a:buNone/>
            </a:pPr>
            <a:r>
              <a:rPr lang="en-US" sz="1400" dirty="0">
                <a:solidFill>
                  <a:srgbClr val="6E6E6B"/>
                </a:solidFill>
                <a:latin typeface="Calibri" pitchFamily="34" charset="0"/>
                <a:ea typeface="Calibri" pitchFamily="34" charset="-122"/>
                <a:cs typeface="Calibri" pitchFamily="34" charset="-120"/>
              </a:rPr>
              <a:t>User shakes the phone or says the wake phrase — no unlocking needed</a:t>
            </a:r>
            <a:endParaRPr lang="en-US" sz="1400" dirty="0"/>
          </a:p>
        </p:txBody>
      </p:sp>
      <p:sp>
        <p:nvSpPr>
          <p:cNvPr id="9" name="Shape 6"/>
          <p:cNvSpPr/>
          <p:nvPr/>
        </p:nvSpPr>
        <p:spPr>
          <a:xfrm>
            <a:off x="4769968" y="2926080"/>
            <a:ext cx="411480" cy="274320"/>
          </a:xfrm>
          <a:prstGeom prst="rightArrow">
            <a:avLst/>
          </a:prstGeom>
          <a:solidFill>
            <a:srgbClr val="DAD9D3"/>
          </a:solidFill>
          <a:ln/>
        </p:spPr>
      </p:sp>
      <p:sp>
        <p:nvSpPr>
          <p:cNvPr id="10" name="Shape 7"/>
          <p:cNvSpPr/>
          <p:nvPr/>
        </p:nvSpPr>
        <p:spPr>
          <a:xfrm>
            <a:off x="5227168" y="2377440"/>
            <a:ext cx="1737360" cy="1371600"/>
          </a:xfrm>
          <a:prstGeom prst="rect">
            <a:avLst/>
          </a:prstGeom>
          <a:solidFill>
            <a:srgbClr val="FFFFFF"/>
          </a:solidFill>
          <a:ln w="15875">
            <a:solidFill>
              <a:srgbClr val="DAD9D3"/>
            </a:solidFill>
            <a:prstDash val="solid"/>
          </a:ln>
        </p:spPr>
      </p:sp>
      <p:sp>
        <p:nvSpPr>
          <p:cNvPr id="11" name="Text 8"/>
          <p:cNvSpPr/>
          <p:nvPr/>
        </p:nvSpPr>
        <p:spPr>
          <a:xfrm>
            <a:off x="5364328" y="2468880"/>
            <a:ext cx="731520" cy="27432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02</a:t>
            </a:r>
            <a:endParaRPr lang="en-US" sz="1100" dirty="0"/>
          </a:p>
        </p:txBody>
      </p:sp>
      <p:pic>
        <p:nvPicPr>
          <p:cNvPr id="12" name="Image 1" descr="preencoded.png"/>
          <p:cNvPicPr>
            <a:picLocks noChangeAspect="1"/>
          </p:cNvPicPr>
          <p:nvPr/>
        </p:nvPicPr>
        <p:blipFill>
          <a:blip r:embed="rId4"/>
          <a:stretch>
            <a:fillRect/>
          </a:stretch>
        </p:blipFill>
        <p:spPr>
          <a:xfrm>
            <a:off x="5839816" y="2816352"/>
            <a:ext cx="512064" cy="512064"/>
          </a:xfrm>
          <a:prstGeom prst="rect">
            <a:avLst/>
          </a:prstGeom>
        </p:spPr>
      </p:pic>
      <p:sp>
        <p:nvSpPr>
          <p:cNvPr id="13" name="Text 9"/>
          <p:cNvSpPr/>
          <p:nvPr/>
        </p:nvSpPr>
        <p:spPr>
          <a:xfrm>
            <a:off x="5227168" y="3364992"/>
            <a:ext cx="1737360" cy="329184"/>
          </a:xfrm>
          <a:prstGeom prst="rect">
            <a:avLst/>
          </a:prstGeom>
          <a:noFill/>
          <a:ln/>
        </p:spPr>
        <p:txBody>
          <a:bodyPr wrap="square" rtlCol="0" anchor="ctr"/>
          <a:lstStyle/>
          <a:p>
            <a:pPr marL="0" indent="0" algn="ctr">
              <a:buNone/>
            </a:pPr>
            <a:r>
              <a:rPr lang="en-US" sz="1350" b="1" dirty="0">
                <a:solidFill>
                  <a:srgbClr val="242422"/>
                </a:solidFill>
                <a:latin typeface="Cambria" pitchFamily="34" charset="0"/>
                <a:ea typeface="Cambria" pitchFamily="34" charset="-122"/>
                <a:cs typeface="Cambria" pitchFamily="34" charset="-120"/>
              </a:rPr>
              <a:t>Locate</a:t>
            </a:r>
            <a:endParaRPr lang="en-US" sz="1350" dirty="0"/>
          </a:p>
        </p:txBody>
      </p:sp>
      <p:sp>
        <p:nvSpPr>
          <p:cNvPr id="14" name="Text 10"/>
          <p:cNvSpPr/>
          <p:nvPr/>
        </p:nvSpPr>
        <p:spPr>
          <a:xfrm>
            <a:off x="4998568" y="3977640"/>
            <a:ext cx="2194560" cy="1188720"/>
          </a:xfrm>
          <a:prstGeom prst="rect">
            <a:avLst/>
          </a:prstGeom>
          <a:noFill/>
          <a:ln/>
        </p:spPr>
        <p:txBody>
          <a:bodyPr wrap="square" rtlCol="0" anchor="t"/>
          <a:lstStyle/>
          <a:p>
            <a:pPr marL="0" indent="0" algn="ctr">
              <a:lnSpc>
                <a:spcPct val="115000"/>
              </a:lnSpc>
              <a:buNone/>
            </a:pPr>
            <a:r>
              <a:rPr lang="en-US" sz="1400" dirty="0">
                <a:solidFill>
                  <a:srgbClr val="6E6E6B"/>
                </a:solidFill>
                <a:latin typeface="Calibri" pitchFamily="34" charset="0"/>
                <a:ea typeface="Calibri" pitchFamily="34" charset="-122"/>
                <a:cs typeface="Calibri" pitchFamily="34" charset="-120"/>
              </a:rPr>
              <a:t>App instantly grabs a live GPS fix on the user's position</a:t>
            </a:r>
            <a:endParaRPr lang="en-US" sz="1400" dirty="0"/>
          </a:p>
        </p:txBody>
      </p:sp>
      <p:sp>
        <p:nvSpPr>
          <p:cNvPr id="15" name="Shape 11"/>
          <p:cNvSpPr/>
          <p:nvPr/>
        </p:nvSpPr>
        <p:spPr>
          <a:xfrm>
            <a:off x="7010248" y="2926080"/>
            <a:ext cx="411480" cy="274320"/>
          </a:xfrm>
          <a:prstGeom prst="rightArrow">
            <a:avLst/>
          </a:prstGeom>
          <a:solidFill>
            <a:srgbClr val="DAD9D3"/>
          </a:solidFill>
          <a:ln/>
        </p:spPr>
      </p:sp>
      <p:sp>
        <p:nvSpPr>
          <p:cNvPr id="16" name="Shape 12"/>
          <p:cNvSpPr/>
          <p:nvPr/>
        </p:nvSpPr>
        <p:spPr>
          <a:xfrm>
            <a:off x="7467448" y="2377440"/>
            <a:ext cx="1737360" cy="1371600"/>
          </a:xfrm>
          <a:prstGeom prst="rect">
            <a:avLst/>
          </a:prstGeom>
          <a:solidFill>
            <a:srgbClr val="FFFFFF"/>
          </a:solidFill>
          <a:ln w="15875">
            <a:solidFill>
              <a:srgbClr val="DAD9D3"/>
            </a:solidFill>
            <a:prstDash val="solid"/>
          </a:ln>
        </p:spPr>
      </p:sp>
      <p:sp>
        <p:nvSpPr>
          <p:cNvPr id="17" name="Text 13"/>
          <p:cNvSpPr/>
          <p:nvPr/>
        </p:nvSpPr>
        <p:spPr>
          <a:xfrm>
            <a:off x="7604608" y="2468880"/>
            <a:ext cx="731520" cy="27432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03</a:t>
            </a:r>
            <a:endParaRPr lang="en-US" sz="1100" dirty="0"/>
          </a:p>
        </p:txBody>
      </p:sp>
      <p:pic>
        <p:nvPicPr>
          <p:cNvPr id="18" name="Image 2" descr="preencoded.png"/>
          <p:cNvPicPr>
            <a:picLocks noChangeAspect="1"/>
          </p:cNvPicPr>
          <p:nvPr/>
        </p:nvPicPr>
        <p:blipFill>
          <a:blip r:embed="rId5"/>
          <a:stretch>
            <a:fillRect/>
          </a:stretch>
        </p:blipFill>
        <p:spPr>
          <a:xfrm>
            <a:off x="8080096" y="2816352"/>
            <a:ext cx="512064" cy="512064"/>
          </a:xfrm>
          <a:prstGeom prst="rect">
            <a:avLst/>
          </a:prstGeom>
        </p:spPr>
      </p:pic>
      <p:sp>
        <p:nvSpPr>
          <p:cNvPr id="19" name="Text 14"/>
          <p:cNvSpPr/>
          <p:nvPr/>
        </p:nvSpPr>
        <p:spPr>
          <a:xfrm>
            <a:off x="7467448" y="3364992"/>
            <a:ext cx="1737360" cy="329184"/>
          </a:xfrm>
          <a:prstGeom prst="rect">
            <a:avLst/>
          </a:prstGeom>
          <a:noFill/>
          <a:ln/>
        </p:spPr>
        <p:txBody>
          <a:bodyPr wrap="square" rtlCol="0" anchor="ctr"/>
          <a:lstStyle/>
          <a:p>
            <a:pPr marL="0" indent="0" algn="ctr">
              <a:buNone/>
            </a:pPr>
            <a:r>
              <a:rPr lang="en-US" sz="1350" b="1" dirty="0">
                <a:solidFill>
                  <a:srgbClr val="242422"/>
                </a:solidFill>
                <a:latin typeface="Cambria" pitchFamily="34" charset="0"/>
                <a:ea typeface="Cambria" pitchFamily="34" charset="-122"/>
                <a:cs typeface="Cambria" pitchFamily="34" charset="-120"/>
              </a:rPr>
              <a:t>Alert</a:t>
            </a:r>
            <a:endParaRPr lang="en-US" sz="1350" dirty="0"/>
          </a:p>
        </p:txBody>
      </p:sp>
      <p:sp>
        <p:nvSpPr>
          <p:cNvPr id="20" name="Text 15"/>
          <p:cNvSpPr/>
          <p:nvPr/>
        </p:nvSpPr>
        <p:spPr>
          <a:xfrm>
            <a:off x="7238848" y="3977640"/>
            <a:ext cx="2194560" cy="1188720"/>
          </a:xfrm>
          <a:prstGeom prst="rect">
            <a:avLst/>
          </a:prstGeom>
          <a:noFill/>
          <a:ln/>
        </p:spPr>
        <p:txBody>
          <a:bodyPr wrap="square" rtlCol="0" anchor="t"/>
          <a:lstStyle/>
          <a:p>
            <a:pPr marL="0" indent="0" algn="ctr">
              <a:lnSpc>
                <a:spcPct val="115000"/>
              </a:lnSpc>
              <a:buNone/>
            </a:pPr>
            <a:r>
              <a:rPr lang="en-US" sz="1400" dirty="0">
                <a:solidFill>
                  <a:srgbClr val="6E6E6B"/>
                </a:solidFill>
                <a:latin typeface="Calibri" pitchFamily="34" charset="0"/>
                <a:ea typeface="Calibri" pitchFamily="34" charset="-122"/>
                <a:cs typeface="Calibri" pitchFamily="34" charset="-120"/>
              </a:rPr>
              <a:t>SOS message with location is sent to trusted contacts</a:t>
            </a:r>
            <a:endParaRPr lang="en-US" sz="1400" dirty="0"/>
          </a:p>
        </p:txBody>
      </p:sp>
      <p:sp>
        <p:nvSpPr>
          <p:cNvPr id="21" name="Shape 16"/>
          <p:cNvSpPr/>
          <p:nvPr/>
        </p:nvSpPr>
        <p:spPr>
          <a:xfrm>
            <a:off x="640080" y="6172200"/>
            <a:ext cx="10881360" cy="0"/>
          </a:xfrm>
          <a:prstGeom prst="line">
            <a:avLst/>
          </a:prstGeom>
          <a:noFill/>
          <a:ln w="12700">
            <a:solidFill>
              <a:srgbClr val="DAD9D3"/>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1.2</a:t>
            </a:r>
            <a:endParaRPr lang="en-US" sz="1300" dirty="0"/>
          </a:p>
        </p:txBody>
      </p:sp>
      <p:sp>
        <p:nvSpPr>
          <p:cNvPr id="3" name="Text 1"/>
          <p:cNvSpPr/>
          <p:nvPr/>
        </p:nvSpPr>
        <p:spPr>
          <a:xfrm>
            <a:off x="640080" y="822960"/>
            <a:ext cx="10058400" cy="594360"/>
          </a:xfrm>
          <a:prstGeom prst="rect">
            <a:avLst/>
          </a:prstGeom>
          <a:noFill/>
          <a:ln/>
        </p:spPr>
        <p:txBody>
          <a:bodyPr wrap="square" rtlCol="0" anchor="ctr"/>
          <a:lstStyle/>
          <a:p>
            <a:pPr marL="0" indent="0">
              <a:buNone/>
            </a:pPr>
            <a:r>
              <a:rPr lang="en-US" sz="2500" b="1" dirty="0">
                <a:solidFill>
                  <a:srgbClr val="242422"/>
                </a:solidFill>
                <a:latin typeface="Cambria" pitchFamily="34" charset="0"/>
                <a:ea typeface="Cambria" pitchFamily="34" charset="-122"/>
                <a:cs typeface="Cambria" pitchFamily="34" charset="-120"/>
              </a:rPr>
              <a:t>Nirbhay(Women Security App) — System Modules</a:t>
            </a:r>
            <a:endParaRPr lang="en-US" sz="2500" dirty="0"/>
          </a:p>
        </p:txBody>
      </p:sp>
      <p:sp>
        <p:nvSpPr>
          <p:cNvPr id="4" name="Shape 2"/>
          <p:cNvSpPr/>
          <p:nvPr/>
        </p:nvSpPr>
        <p:spPr>
          <a:xfrm>
            <a:off x="640080" y="1508760"/>
            <a:ext cx="10881360" cy="0"/>
          </a:xfrm>
          <a:prstGeom prst="line">
            <a:avLst/>
          </a:prstGeom>
          <a:noFill/>
          <a:ln w="12700">
            <a:solidFill>
              <a:srgbClr val="DAD9D3"/>
            </a:solidFill>
            <a:prstDash val="solid"/>
          </a:ln>
        </p:spPr>
      </p:sp>
      <p:pic>
        <p:nvPicPr>
          <p:cNvPr id="5" name="Image 0" descr="preencoded.png"/>
          <p:cNvPicPr>
            <a:picLocks noChangeAspect="1"/>
          </p:cNvPicPr>
          <p:nvPr/>
        </p:nvPicPr>
        <p:blipFill>
          <a:blip r:embed="rId3"/>
          <a:stretch>
            <a:fillRect/>
          </a:stretch>
        </p:blipFill>
        <p:spPr>
          <a:xfrm>
            <a:off x="640080" y="1792224"/>
            <a:ext cx="310896" cy="310896"/>
          </a:xfrm>
          <a:prstGeom prst="rect">
            <a:avLst/>
          </a:prstGeom>
        </p:spPr>
      </p:pic>
      <p:sp>
        <p:nvSpPr>
          <p:cNvPr id="6" name="Text 3"/>
          <p:cNvSpPr/>
          <p:nvPr/>
        </p:nvSpPr>
        <p:spPr>
          <a:xfrm>
            <a:off x="1042416" y="1719072"/>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01</a:t>
            </a:r>
            <a:endParaRPr lang="en-US" sz="1100" dirty="0"/>
          </a:p>
        </p:txBody>
      </p:sp>
      <p:sp>
        <p:nvSpPr>
          <p:cNvPr id="7" name="Text 4"/>
          <p:cNvSpPr/>
          <p:nvPr/>
        </p:nvSpPr>
        <p:spPr>
          <a:xfrm>
            <a:off x="640080" y="2157984"/>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SOS Alert &amp; Live Location Sharing</a:t>
            </a:r>
            <a:endParaRPr lang="en-US" sz="1400" dirty="0"/>
          </a:p>
        </p:txBody>
      </p:sp>
      <p:sp>
        <p:nvSpPr>
          <p:cNvPr id="8" name="Text 5"/>
          <p:cNvSpPr/>
          <p:nvPr/>
        </p:nvSpPr>
        <p:spPr>
          <a:xfrm>
            <a:off x="640080" y="2523744"/>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One-tap alert with real-time location sent to trusted contacts</a:t>
            </a:r>
            <a:endParaRPr lang="en-US" sz="1500" dirty="0"/>
          </a:p>
        </p:txBody>
      </p:sp>
      <p:sp>
        <p:nvSpPr>
          <p:cNvPr id="9" name="Shape 6"/>
          <p:cNvSpPr/>
          <p:nvPr/>
        </p:nvSpPr>
        <p:spPr>
          <a:xfrm>
            <a:off x="640080" y="3054096"/>
            <a:ext cx="5257800" cy="0"/>
          </a:xfrm>
          <a:prstGeom prst="line">
            <a:avLst/>
          </a:prstGeom>
          <a:noFill/>
          <a:ln w="9525">
            <a:solidFill>
              <a:srgbClr val="DAD9D3"/>
            </a:solidFill>
            <a:prstDash val="solid"/>
          </a:ln>
        </p:spPr>
      </p:sp>
      <p:pic>
        <p:nvPicPr>
          <p:cNvPr id="10" name="Image 1" descr="preencoded.png"/>
          <p:cNvPicPr>
            <a:picLocks noChangeAspect="1"/>
          </p:cNvPicPr>
          <p:nvPr/>
        </p:nvPicPr>
        <p:blipFill>
          <a:blip r:embed="rId4"/>
          <a:stretch>
            <a:fillRect/>
          </a:stretch>
        </p:blipFill>
        <p:spPr>
          <a:xfrm>
            <a:off x="6263640" y="1792224"/>
            <a:ext cx="310896" cy="310896"/>
          </a:xfrm>
          <a:prstGeom prst="rect">
            <a:avLst/>
          </a:prstGeom>
        </p:spPr>
      </p:pic>
      <p:sp>
        <p:nvSpPr>
          <p:cNvPr id="11" name="Text 7"/>
          <p:cNvSpPr/>
          <p:nvPr/>
        </p:nvSpPr>
        <p:spPr>
          <a:xfrm>
            <a:off x="6665976" y="1719072"/>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02</a:t>
            </a:r>
            <a:endParaRPr lang="en-US" sz="1100" dirty="0"/>
          </a:p>
        </p:txBody>
      </p:sp>
      <p:sp>
        <p:nvSpPr>
          <p:cNvPr id="12" name="Text 8"/>
          <p:cNvSpPr/>
          <p:nvPr/>
        </p:nvSpPr>
        <p:spPr>
          <a:xfrm>
            <a:off x="6263640" y="2157984"/>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Voice Command / Shake Trigger</a:t>
            </a:r>
            <a:endParaRPr lang="en-US" sz="1400" dirty="0"/>
          </a:p>
        </p:txBody>
      </p:sp>
      <p:sp>
        <p:nvSpPr>
          <p:cNvPr id="13" name="Text 9"/>
          <p:cNvSpPr/>
          <p:nvPr/>
        </p:nvSpPr>
        <p:spPr>
          <a:xfrm>
            <a:off x="6263640" y="2523744"/>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Hands-free activation via wake phrase or phone-shake gesture</a:t>
            </a:r>
            <a:endParaRPr lang="en-US" sz="1500" dirty="0"/>
          </a:p>
        </p:txBody>
      </p:sp>
      <p:sp>
        <p:nvSpPr>
          <p:cNvPr id="14" name="Shape 10"/>
          <p:cNvSpPr/>
          <p:nvPr/>
        </p:nvSpPr>
        <p:spPr>
          <a:xfrm>
            <a:off x="6263640" y="3054096"/>
            <a:ext cx="5257800" cy="0"/>
          </a:xfrm>
          <a:prstGeom prst="line">
            <a:avLst/>
          </a:prstGeom>
          <a:noFill/>
          <a:ln w="9525">
            <a:solidFill>
              <a:srgbClr val="DAD9D3"/>
            </a:solidFill>
            <a:prstDash val="solid"/>
          </a:ln>
        </p:spPr>
      </p:sp>
      <p:pic>
        <p:nvPicPr>
          <p:cNvPr id="15" name="Image 2" descr="preencoded.png"/>
          <p:cNvPicPr>
            <a:picLocks noChangeAspect="1"/>
          </p:cNvPicPr>
          <p:nvPr/>
        </p:nvPicPr>
        <p:blipFill>
          <a:blip r:embed="rId5"/>
          <a:stretch>
            <a:fillRect/>
          </a:stretch>
        </p:blipFill>
        <p:spPr>
          <a:xfrm>
            <a:off x="640080" y="3273552"/>
            <a:ext cx="310896" cy="310896"/>
          </a:xfrm>
          <a:prstGeom prst="rect">
            <a:avLst/>
          </a:prstGeom>
        </p:spPr>
      </p:pic>
      <p:sp>
        <p:nvSpPr>
          <p:cNvPr id="16" name="Text 11"/>
          <p:cNvSpPr/>
          <p:nvPr/>
        </p:nvSpPr>
        <p:spPr>
          <a:xfrm>
            <a:off x="1042416" y="3200400"/>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03</a:t>
            </a:r>
            <a:endParaRPr lang="en-US" sz="1100" dirty="0"/>
          </a:p>
        </p:txBody>
      </p:sp>
      <p:sp>
        <p:nvSpPr>
          <p:cNvPr id="17" name="Text 12"/>
          <p:cNvSpPr/>
          <p:nvPr/>
        </p:nvSpPr>
        <p:spPr>
          <a:xfrm>
            <a:off x="640080" y="3639312"/>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Safety Timer &amp; Check-In</a:t>
            </a:r>
            <a:endParaRPr lang="en-US" sz="1400" dirty="0"/>
          </a:p>
        </p:txBody>
      </p:sp>
      <p:sp>
        <p:nvSpPr>
          <p:cNvPr id="18" name="Text 13"/>
          <p:cNvSpPr/>
          <p:nvPr/>
        </p:nvSpPr>
        <p:spPr>
          <a:xfrm>
            <a:off x="640080" y="4005072"/>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Auto-alerts contacts if the user doesn't check in on time</a:t>
            </a:r>
            <a:endParaRPr lang="en-US" sz="1500" dirty="0"/>
          </a:p>
        </p:txBody>
      </p:sp>
      <p:sp>
        <p:nvSpPr>
          <p:cNvPr id="19" name="Shape 14"/>
          <p:cNvSpPr/>
          <p:nvPr/>
        </p:nvSpPr>
        <p:spPr>
          <a:xfrm>
            <a:off x="640080" y="4535424"/>
            <a:ext cx="5257800" cy="0"/>
          </a:xfrm>
          <a:prstGeom prst="line">
            <a:avLst/>
          </a:prstGeom>
          <a:noFill/>
          <a:ln w="9525">
            <a:solidFill>
              <a:srgbClr val="DAD9D3"/>
            </a:solidFill>
            <a:prstDash val="solid"/>
          </a:ln>
        </p:spPr>
      </p:sp>
      <p:pic>
        <p:nvPicPr>
          <p:cNvPr id="20" name="Image 3" descr="preencoded.png"/>
          <p:cNvPicPr>
            <a:picLocks noChangeAspect="1"/>
          </p:cNvPicPr>
          <p:nvPr/>
        </p:nvPicPr>
        <p:blipFill>
          <a:blip r:embed="rId6"/>
          <a:stretch>
            <a:fillRect/>
          </a:stretch>
        </p:blipFill>
        <p:spPr>
          <a:xfrm>
            <a:off x="6263640" y="3273552"/>
            <a:ext cx="310896" cy="310896"/>
          </a:xfrm>
          <a:prstGeom prst="rect">
            <a:avLst/>
          </a:prstGeom>
        </p:spPr>
      </p:pic>
      <p:sp>
        <p:nvSpPr>
          <p:cNvPr id="21" name="Text 15"/>
          <p:cNvSpPr/>
          <p:nvPr/>
        </p:nvSpPr>
        <p:spPr>
          <a:xfrm>
            <a:off x="6665976" y="3200400"/>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04</a:t>
            </a:r>
            <a:endParaRPr lang="en-US" sz="1100" dirty="0"/>
          </a:p>
        </p:txBody>
      </p:sp>
      <p:sp>
        <p:nvSpPr>
          <p:cNvPr id="22" name="Text 16"/>
          <p:cNvSpPr/>
          <p:nvPr/>
        </p:nvSpPr>
        <p:spPr>
          <a:xfrm>
            <a:off x="6263640" y="3639312"/>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Fake Call Generator</a:t>
            </a:r>
            <a:endParaRPr lang="en-US" sz="1400" dirty="0"/>
          </a:p>
        </p:txBody>
      </p:sp>
      <p:sp>
        <p:nvSpPr>
          <p:cNvPr id="23" name="Text 17"/>
          <p:cNvSpPr/>
          <p:nvPr/>
        </p:nvSpPr>
        <p:spPr>
          <a:xfrm>
            <a:off x="6263640" y="4005072"/>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Simulates an incoming call to help exit unsafe situations</a:t>
            </a:r>
            <a:endParaRPr lang="en-US" sz="1500" dirty="0"/>
          </a:p>
        </p:txBody>
      </p:sp>
      <p:sp>
        <p:nvSpPr>
          <p:cNvPr id="24" name="Shape 18"/>
          <p:cNvSpPr/>
          <p:nvPr/>
        </p:nvSpPr>
        <p:spPr>
          <a:xfrm>
            <a:off x="6263640" y="4535424"/>
            <a:ext cx="5257800" cy="0"/>
          </a:xfrm>
          <a:prstGeom prst="line">
            <a:avLst/>
          </a:prstGeom>
          <a:noFill/>
          <a:ln w="9525">
            <a:solidFill>
              <a:srgbClr val="DAD9D3"/>
            </a:solidFill>
            <a:prstDash val="solid"/>
          </a:ln>
        </p:spPr>
      </p:sp>
      <p:pic>
        <p:nvPicPr>
          <p:cNvPr id="25" name="Image 4" descr="preencoded.png"/>
          <p:cNvPicPr>
            <a:picLocks noChangeAspect="1"/>
          </p:cNvPicPr>
          <p:nvPr/>
        </p:nvPicPr>
        <p:blipFill>
          <a:blip r:embed="rId7"/>
          <a:stretch>
            <a:fillRect/>
          </a:stretch>
        </p:blipFill>
        <p:spPr>
          <a:xfrm>
            <a:off x="640080" y="4754880"/>
            <a:ext cx="310896" cy="310896"/>
          </a:xfrm>
          <a:prstGeom prst="rect">
            <a:avLst/>
          </a:prstGeom>
        </p:spPr>
      </p:pic>
      <p:sp>
        <p:nvSpPr>
          <p:cNvPr id="26" name="Text 19"/>
          <p:cNvSpPr/>
          <p:nvPr/>
        </p:nvSpPr>
        <p:spPr>
          <a:xfrm>
            <a:off x="1042416" y="4681728"/>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05</a:t>
            </a:r>
            <a:endParaRPr lang="en-US" sz="1100" dirty="0"/>
          </a:p>
        </p:txBody>
      </p:sp>
      <p:sp>
        <p:nvSpPr>
          <p:cNvPr id="27" name="Text 20"/>
          <p:cNvSpPr/>
          <p:nvPr/>
        </p:nvSpPr>
        <p:spPr>
          <a:xfrm>
            <a:off x="640080" y="5120640"/>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Nearby Emergency Services</a:t>
            </a:r>
            <a:endParaRPr lang="en-US" sz="1400" dirty="0"/>
          </a:p>
        </p:txBody>
      </p:sp>
      <p:sp>
        <p:nvSpPr>
          <p:cNvPr id="28" name="Text 21"/>
          <p:cNvSpPr/>
          <p:nvPr/>
        </p:nvSpPr>
        <p:spPr>
          <a:xfrm>
            <a:off x="640080" y="5486400"/>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Locates and connects to nearby police, hospitals &amp; helplines</a:t>
            </a:r>
            <a:endParaRPr lang="en-US" sz="1500" dirty="0"/>
          </a:p>
        </p:txBody>
      </p:sp>
      <p:pic>
        <p:nvPicPr>
          <p:cNvPr id="29" name="Image 5" descr="preencoded.png"/>
          <p:cNvPicPr>
            <a:picLocks noChangeAspect="1"/>
          </p:cNvPicPr>
          <p:nvPr/>
        </p:nvPicPr>
        <p:blipFill>
          <a:blip r:embed="rId8"/>
          <a:stretch>
            <a:fillRect/>
          </a:stretch>
        </p:blipFill>
        <p:spPr>
          <a:xfrm>
            <a:off x="6263640" y="4754880"/>
            <a:ext cx="310896" cy="310896"/>
          </a:xfrm>
          <a:prstGeom prst="rect">
            <a:avLst/>
          </a:prstGeom>
        </p:spPr>
      </p:pic>
      <p:sp>
        <p:nvSpPr>
          <p:cNvPr id="30" name="Text 22"/>
          <p:cNvSpPr/>
          <p:nvPr/>
        </p:nvSpPr>
        <p:spPr>
          <a:xfrm>
            <a:off x="6665976" y="4681728"/>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06</a:t>
            </a:r>
            <a:endParaRPr lang="en-US" sz="1100" dirty="0"/>
          </a:p>
        </p:txBody>
      </p:sp>
      <p:sp>
        <p:nvSpPr>
          <p:cNvPr id="31" name="Text 23"/>
          <p:cNvSpPr/>
          <p:nvPr/>
        </p:nvSpPr>
        <p:spPr>
          <a:xfrm>
            <a:off x="6263640" y="5120640"/>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Community Safety Module</a:t>
            </a:r>
            <a:endParaRPr lang="en-US" sz="1400" dirty="0"/>
          </a:p>
        </p:txBody>
      </p:sp>
      <p:sp>
        <p:nvSpPr>
          <p:cNvPr id="32" name="Text 24"/>
          <p:cNvSpPr/>
          <p:nvPr/>
        </p:nvSpPr>
        <p:spPr>
          <a:xfrm>
            <a:off x="6263640" y="5486400"/>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Report unsafe locations, view a safety heatmap, and read community safety tips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1.3</a:t>
            </a:r>
            <a:endParaRPr lang="en-US" sz="1300" dirty="0"/>
          </a:p>
        </p:txBody>
      </p:sp>
      <p:sp>
        <p:nvSpPr>
          <p:cNvPr id="3" name="Text 1"/>
          <p:cNvSpPr/>
          <p:nvPr/>
        </p:nvSpPr>
        <p:spPr>
          <a:xfrm>
            <a:off x="640080" y="822960"/>
            <a:ext cx="10058400" cy="594360"/>
          </a:xfrm>
          <a:prstGeom prst="rect">
            <a:avLst/>
          </a:prstGeom>
          <a:noFill/>
          <a:ln/>
        </p:spPr>
        <p:txBody>
          <a:bodyPr wrap="square" rtlCol="0" anchor="ctr"/>
          <a:lstStyle/>
          <a:p>
            <a:pPr marL="0" indent="0">
              <a:buNone/>
            </a:pPr>
            <a:r>
              <a:rPr lang="en-US" sz="2500" b="1" dirty="0">
                <a:solidFill>
                  <a:srgbClr val="242422"/>
                </a:solidFill>
                <a:latin typeface="Cambria" pitchFamily="34" charset="0"/>
                <a:ea typeface="Cambria" pitchFamily="34" charset="-122"/>
                <a:cs typeface="Cambria" pitchFamily="34" charset="-120"/>
              </a:rPr>
              <a:t>Nirbhay(Women Security App) — Tech Stack</a:t>
            </a:r>
            <a:endParaRPr lang="en-US" sz="2500" dirty="0"/>
          </a:p>
        </p:txBody>
      </p:sp>
      <p:sp>
        <p:nvSpPr>
          <p:cNvPr id="4" name="Shape 2"/>
          <p:cNvSpPr/>
          <p:nvPr/>
        </p:nvSpPr>
        <p:spPr>
          <a:xfrm>
            <a:off x="640080" y="1508760"/>
            <a:ext cx="10881360" cy="0"/>
          </a:xfrm>
          <a:prstGeom prst="line">
            <a:avLst/>
          </a:prstGeom>
          <a:noFill/>
          <a:ln w="12700">
            <a:solidFill>
              <a:srgbClr val="DAD9D3"/>
            </a:solidFill>
            <a:prstDash val="solid"/>
          </a:ln>
        </p:spPr>
      </p:sp>
      <p:pic>
        <p:nvPicPr>
          <p:cNvPr id="5" name="Image 0" descr="preencoded.png"/>
          <p:cNvPicPr>
            <a:picLocks noChangeAspect="1"/>
          </p:cNvPicPr>
          <p:nvPr/>
        </p:nvPicPr>
        <p:blipFill>
          <a:blip r:embed="rId3"/>
          <a:stretch>
            <a:fillRect/>
          </a:stretch>
        </p:blipFill>
        <p:spPr>
          <a:xfrm>
            <a:off x="640080" y="1865376"/>
            <a:ext cx="310896" cy="310896"/>
          </a:xfrm>
          <a:prstGeom prst="rect">
            <a:avLst/>
          </a:prstGeom>
        </p:spPr>
      </p:pic>
      <p:sp>
        <p:nvSpPr>
          <p:cNvPr id="6" name="Text 3"/>
          <p:cNvSpPr/>
          <p:nvPr/>
        </p:nvSpPr>
        <p:spPr>
          <a:xfrm>
            <a:off x="1143000" y="173736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FRONTEND</a:t>
            </a:r>
            <a:endParaRPr lang="en-US" sz="1500" dirty="0"/>
          </a:p>
        </p:txBody>
      </p:sp>
      <p:sp>
        <p:nvSpPr>
          <p:cNvPr id="7" name="Text 4"/>
          <p:cNvSpPr/>
          <p:nvPr/>
        </p:nvSpPr>
        <p:spPr>
          <a:xfrm>
            <a:off x="3520440" y="173736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Flutter</a:t>
            </a:r>
            <a:endParaRPr lang="en-US" sz="1500" dirty="0"/>
          </a:p>
        </p:txBody>
      </p:sp>
      <p:sp>
        <p:nvSpPr>
          <p:cNvPr id="8" name="Text 5"/>
          <p:cNvSpPr/>
          <p:nvPr/>
        </p:nvSpPr>
        <p:spPr>
          <a:xfrm>
            <a:off x="6903720" y="173736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Cross-platform mobile UI for Android &amp; iOS from a single codebase</a:t>
            </a:r>
            <a:endParaRPr lang="en-US" sz="1500" dirty="0"/>
          </a:p>
        </p:txBody>
      </p:sp>
      <p:sp>
        <p:nvSpPr>
          <p:cNvPr id="9" name="Shape 6"/>
          <p:cNvSpPr/>
          <p:nvPr/>
        </p:nvSpPr>
        <p:spPr>
          <a:xfrm>
            <a:off x="640080" y="2441448"/>
            <a:ext cx="10881360" cy="0"/>
          </a:xfrm>
          <a:prstGeom prst="line">
            <a:avLst/>
          </a:prstGeom>
          <a:noFill/>
          <a:ln w="9525">
            <a:solidFill>
              <a:srgbClr val="DAD9D3"/>
            </a:solidFill>
            <a:prstDash val="solid"/>
          </a:ln>
        </p:spPr>
      </p:sp>
      <p:pic>
        <p:nvPicPr>
          <p:cNvPr id="10" name="Image 1" descr="preencoded.png"/>
          <p:cNvPicPr>
            <a:picLocks noChangeAspect="1"/>
          </p:cNvPicPr>
          <p:nvPr/>
        </p:nvPicPr>
        <p:blipFill>
          <a:blip r:embed="rId4"/>
          <a:stretch>
            <a:fillRect/>
          </a:stretch>
        </p:blipFill>
        <p:spPr>
          <a:xfrm>
            <a:off x="640080" y="2642616"/>
            <a:ext cx="310896" cy="310896"/>
          </a:xfrm>
          <a:prstGeom prst="rect">
            <a:avLst/>
          </a:prstGeom>
        </p:spPr>
      </p:pic>
      <p:sp>
        <p:nvSpPr>
          <p:cNvPr id="11" name="Text 7"/>
          <p:cNvSpPr/>
          <p:nvPr/>
        </p:nvSpPr>
        <p:spPr>
          <a:xfrm>
            <a:off x="1143000" y="251460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BACKEND</a:t>
            </a:r>
            <a:endParaRPr lang="en-US" sz="1500" dirty="0"/>
          </a:p>
        </p:txBody>
      </p:sp>
      <p:sp>
        <p:nvSpPr>
          <p:cNvPr id="12" name="Text 8"/>
          <p:cNvSpPr/>
          <p:nvPr/>
        </p:nvSpPr>
        <p:spPr>
          <a:xfrm>
            <a:off x="3520440" y="251460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Node.js + Express</a:t>
            </a:r>
            <a:endParaRPr lang="en-US" sz="1500" dirty="0"/>
          </a:p>
        </p:txBody>
      </p:sp>
      <p:sp>
        <p:nvSpPr>
          <p:cNvPr id="13" name="Text 9"/>
          <p:cNvSpPr/>
          <p:nvPr/>
        </p:nvSpPr>
        <p:spPr>
          <a:xfrm>
            <a:off x="6903720" y="251460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REST APIs for alerts, contacts, timers and service coordination</a:t>
            </a:r>
            <a:endParaRPr lang="en-US" sz="1500" dirty="0"/>
          </a:p>
        </p:txBody>
      </p:sp>
      <p:sp>
        <p:nvSpPr>
          <p:cNvPr id="14" name="Shape 10"/>
          <p:cNvSpPr/>
          <p:nvPr/>
        </p:nvSpPr>
        <p:spPr>
          <a:xfrm>
            <a:off x="640080" y="3218688"/>
            <a:ext cx="10881360" cy="0"/>
          </a:xfrm>
          <a:prstGeom prst="line">
            <a:avLst/>
          </a:prstGeom>
          <a:noFill/>
          <a:ln w="9525">
            <a:solidFill>
              <a:srgbClr val="DAD9D3"/>
            </a:solidFill>
            <a:prstDash val="solid"/>
          </a:ln>
        </p:spPr>
      </p:sp>
      <p:pic>
        <p:nvPicPr>
          <p:cNvPr id="15" name="Image 2" descr="preencoded.png"/>
          <p:cNvPicPr>
            <a:picLocks noChangeAspect="1"/>
          </p:cNvPicPr>
          <p:nvPr/>
        </p:nvPicPr>
        <p:blipFill>
          <a:blip r:embed="rId5"/>
          <a:stretch>
            <a:fillRect/>
          </a:stretch>
        </p:blipFill>
        <p:spPr>
          <a:xfrm>
            <a:off x="640080" y="3419856"/>
            <a:ext cx="310896" cy="310896"/>
          </a:xfrm>
          <a:prstGeom prst="rect">
            <a:avLst/>
          </a:prstGeom>
        </p:spPr>
      </p:pic>
      <p:sp>
        <p:nvSpPr>
          <p:cNvPr id="16" name="Text 11"/>
          <p:cNvSpPr/>
          <p:nvPr/>
        </p:nvSpPr>
        <p:spPr>
          <a:xfrm>
            <a:off x="1143000" y="329184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DATABASE</a:t>
            </a:r>
            <a:endParaRPr lang="en-US" sz="1500" dirty="0"/>
          </a:p>
        </p:txBody>
      </p:sp>
      <p:sp>
        <p:nvSpPr>
          <p:cNvPr id="17" name="Text 12"/>
          <p:cNvSpPr/>
          <p:nvPr/>
        </p:nvSpPr>
        <p:spPr>
          <a:xfrm>
            <a:off x="3520440" y="329184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MongoDB</a:t>
            </a:r>
            <a:endParaRPr lang="en-US" sz="1500" dirty="0"/>
          </a:p>
        </p:txBody>
      </p:sp>
      <p:sp>
        <p:nvSpPr>
          <p:cNvPr id="18" name="Text 13"/>
          <p:cNvSpPr/>
          <p:nvPr/>
        </p:nvSpPr>
        <p:spPr>
          <a:xfrm>
            <a:off x="6903720" y="329184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Stores user profiles, trusted contacts, alert logs and reported locations</a:t>
            </a:r>
            <a:endParaRPr lang="en-US" sz="1500" dirty="0"/>
          </a:p>
        </p:txBody>
      </p:sp>
      <p:sp>
        <p:nvSpPr>
          <p:cNvPr id="19" name="Shape 14"/>
          <p:cNvSpPr/>
          <p:nvPr/>
        </p:nvSpPr>
        <p:spPr>
          <a:xfrm>
            <a:off x="640080" y="3995928"/>
            <a:ext cx="10881360" cy="0"/>
          </a:xfrm>
          <a:prstGeom prst="line">
            <a:avLst/>
          </a:prstGeom>
          <a:noFill/>
          <a:ln w="9525">
            <a:solidFill>
              <a:srgbClr val="DAD9D3"/>
            </a:solidFill>
            <a:prstDash val="solid"/>
          </a:ln>
        </p:spPr>
      </p:sp>
      <p:pic>
        <p:nvPicPr>
          <p:cNvPr id="20" name="Image 3" descr="preencoded.png"/>
          <p:cNvPicPr>
            <a:picLocks noChangeAspect="1"/>
          </p:cNvPicPr>
          <p:nvPr/>
        </p:nvPicPr>
        <p:blipFill>
          <a:blip r:embed="rId6"/>
          <a:stretch>
            <a:fillRect/>
          </a:stretch>
        </p:blipFill>
        <p:spPr>
          <a:xfrm>
            <a:off x="640080" y="4197096"/>
            <a:ext cx="310896" cy="310896"/>
          </a:xfrm>
          <a:prstGeom prst="rect">
            <a:avLst/>
          </a:prstGeom>
        </p:spPr>
      </p:pic>
      <p:sp>
        <p:nvSpPr>
          <p:cNvPr id="21" name="Text 15"/>
          <p:cNvSpPr/>
          <p:nvPr/>
        </p:nvSpPr>
        <p:spPr>
          <a:xfrm>
            <a:off x="1143000" y="406908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REAL-TIME ALERTS</a:t>
            </a:r>
            <a:endParaRPr lang="en-US" sz="1500" dirty="0"/>
          </a:p>
        </p:txBody>
      </p:sp>
      <p:sp>
        <p:nvSpPr>
          <p:cNvPr id="22" name="Text 16"/>
          <p:cNvSpPr/>
          <p:nvPr/>
        </p:nvSpPr>
        <p:spPr>
          <a:xfrm>
            <a:off x="3520440" y="406908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Firebase Cloud Messaging / Socket.io</a:t>
            </a:r>
            <a:endParaRPr lang="en-US" sz="1500" dirty="0"/>
          </a:p>
        </p:txBody>
      </p:sp>
      <p:sp>
        <p:nvSpPr>
          <p:cNvPr id="23" name="Text 17"/>
          <p:cNvSpPr/>
          <p:nvPr/>
        </p:nvSpPr>
        <p:spPr>
          <a:xfrm>
            <a:off x="6903720" y="406908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Pushes instant SOS notifications to trusted contacts</a:t>
            </a:r>
            <a:endParaRPr lang="en-US" sz="1500" dirty="0"/>
          </a:p>
        </p:txBody>
      </p:sp>
      <p:sp>
        <p:nvSpPr>
          <p:cNvPr id="24" name="Shape 18"/>
          <p:cNvSpPr/>
          <p:nvPr/>
        </p:nvSpPr>
        <p:spPr>
          <a:xfrm>
            <a:off x="640080" y="4773168"/>
            <a:ext cx="10881360" cy="0"/>
          </a:xfrm>
          <a:prstGeom prst="line">
            <a:avLst/>
          </a:prstGeom>
          <a:noFill/>
          <a:ln w="9525">
            <a:solidFill>
              <a:srgbClr val="DAD9D3"/>
            </a:solidFill>
            <a:prstDash val="solid"/>
          </a:ln>
        </p:spPr>
      </p:sp>
      <p:pic>
        <p:nvPicPr>
          <p:cNvPr id="25" name="Image 4" descr="preencoded.png"/>
          <p:cNvPicPr>
            <a:picLocks noChangeAspect="1"/>
          </p:cNvPicPr>
          <p:nvPr/>
        </p:nvPicPr>
        <p:blipFill>
          <a:blip r:embed="rId7"/>
          <a:stretch>
            <a:fillRect/>
          </a:stretch>
        </p:blipFill>
        <p:spPr>
          <a:xfrm>
            <a:off x="640080" y="4974336"/>
            <a:ext cx="310896" cy="310896"/>
          </a:xfrm>
          <a:prstGeom prst="rect">
            <a:avLst/>
          </a:prstGeom>
        </p:spPr>
      </p:pic>
      <p:sp>
        <p:nvSpPr>
          <p:cNvPr id="26" name="Text 19"/>
          <p:cNvSpPr/>
          <p:nvPr/>
        </p:nvSpPr>
        <p:spPr>
          <a:xfrm>
            <a:off x="1143000" y="484632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LOCATION &amp; MAPS</a:t>
            </a:r>
            <a:endParaRPr lang="en-US" sz="1500" dirty="0"/>
          </a:p>
        </p:txBody>
      </p:sp>
      <p:sp>
        <p:nvSpPr>
          <p:cNvPr id="27" name="Text 20"/>
          <p:cNvSpPr/>
          <p:nvPr/>
        </p:nvSpPr>
        <p:spPr>
          <a:xfrm>
            <a:off x="3520440" y="484632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Google Maps / Geolocation APIs</a:t>
            </a:r>
            <a:endParaRPr lang="en-US" sz="1500" dirty="0"/>
          </a:p>
        </p:txBody>
      </p:sp>
      <p:sp>
        <p:nvSpPr>
          <p:cNvPr id="28" name="Text 21"/>
          <p:cNvSpPr/>
          <p:nvPr/>
        </p:nvSpPr>
        <p:spPr>
          <a:xfrm>
            <a:off x="6903720" y="484632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Live GPS tracking and safety heatmap rendering</a:t>
            </a:r>
            <a:endParaRPr lang="en-US" sz="1500" dirty="0"/>
          </a:p>
        </p:txBody>
      </p:sp>
      <p:sp>
        <p:nvSpPr>
          <p:cNvPr id="29" name="Shape 22"/>
          <p:cNvSpPr/>
          <p:nvPr/>
        </p:nvSpPr>
        <p:spPr>
          <a:xfrm>
            <a:off x="640080" y="5550408"/>
            <a:ext cx="10881360" cy="0"/>
          </a:xfrm>
          <a:prstGeom prst="line">
            <a:avLst/>
          </a:prstGeom>
          <a:noFill/>
          <a:ln w="9525">
            <a:solidFill>
              <a:srgbClr val="DAD9D3"/>
            </a:solidFill>
            <a:prstDash val="solid"/>
          </a:ln>
        </p:spPr>
      </p:sp>
      <p:pic>
        <p:nvPicPr>
          <p:cNvPr id="30" name="Image 5" descr="preencoded.png"/>
          <p:cNvPicPr>
            <a:picLocks noChangeAspect="1"/>
          </p:cNvPicPr>
          <p:nvPr/>
        </p:nvPicPr>
        <p:blipFill>
          <a:blip r:embed="rId8"/>
          <a:stretch>
            <a:fillRect/>
          </a:stretch>
        </p:blipFill>
        <p:spPr>
          <a:xfrm>
            <a:off x="640080" y="5751576"/>
            <a:ext cx="310896" cy="310896"/>
          </a:xfrm>
          <a:prstGeom prst="rect">
            <a:avLst/>
          </a:prstGeom>
        </p:spPr>
      </p:pic>
      <p:sp>
        <p:nvSpPr>
          <p:cNvPr id="31" name="Text 23"/>
          <p:cNvSpPr/>
          <p:nvPr/>
        </p:nvSpPr>
        <p:spPr>
          <a:xfrm>
            <a:off x="1143000" y="562356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AUTHENTICATION</a:t>
            </a:r>
            <a:endParaRPr lang="en-US" sz="1500" dirty="0"/>
          </a:p>
        </p:txBody>
      </p:sp>
      <p:sp>
        <p:nvSpPr>
          <p:cNvPr id="32" name="Text 24"/>
          <p:cNvSpPr/>
          <p:nvPr/>
        </p:nvSpPr>
        <p:spPr>
          <a:xfrm>
            <a:off x="3520440" y="562356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JWT</a:t>
            </a:r>
            <a:endParaRPr lang="en-US" sz="1500" dirty="0"/>
          </a:p>
        </p:txBody>
      </p:sp>
      <p:sp>
        <p:nvSpPr>
          <p:cNvPr id="33" name="Text 25"/>
          <p:cNvSpPr/>
          <p:nvPr/>
        </p:nvSpPr>
        <p:spPr>
          <a:xfrm>
            <a:off x="6903720" y="562356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Secure login and session handling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778240" y="-320040"/>
            <a:ext cx="3108960" cy="2011680"/>
          </a:xfrm>
          <a:prstGeom prst="rect">
            <a:avLst/>
          </a:prstGeom>
          <a:noFill/>
          <a:ln/>
        </p:spPr>
        <p:txBody>
          <a:bodyPr wrap="square" rtlCol="0" anchor="ctr"/>
          <a:lstStyle/>
          <a:p>
            <a:pPr marL="0" indent="0" algn="r">
              <a:buNone/>
            </a:pPr>
            <a:r>
              <a:rPr lang="en-US" sz="12000" b="1" dirty="0">
                <a:solidFill>
                  <a:srgbClr val="EBE9E2"/>
                </a:solidFill>
                <a:latin typeface="Cambria" pitchFamily="34" charset="0"/>
                <a:ea typeface="Cambria" pitchFamily="34" charset="-122"/>
                <a:cs typeface="Cambria" pitchFamily="34" charset="-120"/>
              </a:rPr>
              <a:t>2.0</a:t>
            </a:r>
            <a:endParaRPr lang="en-US" sz="12000" dirty="0"/>
          </a:p>
        </p:txBody>
      </p:sp>
      <p:sp>
        <p:nvSpPr>
          <p:cNvPr id="3" name="Text 1"/>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2.0</a:t>
            </a:r>
            <a:endParaRPr lang="en-US" sz="1300" dirty="0"/>
          </a:p>
        </p:txBody>
      </p:sp>
      <p:sp>
        <p:nvSpPr>
          <p:cNvPr id="4" name="Text 2"/>
          <p:cNvSpPr/>
          <p:nvPr/>
        </p:nvSpPr>
        <p:spPr>
          <a:xfrm>
            <a:off x="640080" y="822960"/>
            <a:ext cx="7772400" cy="640080"/>
          </a:xfrm>
          <a:prstGeom prst="rect">
            <a:avLst/>
          </a:prstGeom>
          <a:noFill/>
          <a:ln/>
        </p:spPr>
        <p:txBody>
          <a:bodyPr wrap="square" rtlCol="0" anchor="ctr"/>
          <a:lstStyle/>
          <a:p>
            <a:pPr marL="0" indent="0">
              <a:buNone/>
            </a:pPr>
            <a:r>
              <a:rPr lang="en-US" sz="2900" b="1" dirty="0">
                <a:solidFill>
                  <a:srgbClr val="242422"/>
                </a:solidFill>
                <a:latin typeface="Cambria" pitchFamily="34" charset="0"/>
                <a:ea typeface="Cambria" pitchFamily="34" charset="-122"/>
                <a:cs typeface="Cambria" pitchFamily="34" charset="-120"/>
              </a:rPr>
              <a:t>AI Scheme Navigator</a:t>
            </a:r>
            <a:endParaRPr lang="en-US" sz="2900" dirty="0"/>
          </a:p>
        </p:txBody>
      </p:sp>
      <p:sp>
        <p:nvSpPr>
          <p:cNvPr id="5" name="Text 3"/>
          <p:cNvSpPr/>
          <p:nvPr/>
        </p:nvSpPr>
        <p:spPr>
          <a:xfrm>
            <a:off x="640080" y="1417320"/>
            <a:ext cx="7772400" cy="320040"/>
          </a:xfrm>
          <a:prstGeom prst="rect">
            <a:avLst/>
          </a:prstGeom>
          <a:noFill/>
          <a:ln/>
        </p:spPr>
        <p:txBody>
          <a:bodyPr wrap="square" rtlCol="0" anchor="ctr"/>
          <a:lstStyle/>
          <a:p>
            <a:pPr marL="0" indent="0">
              <a:buNone/>
            </a:pPr>
            <a:r>
              <a:rPr lang="en-US" sz="1300" i="1" dirty="0">
                <a:solidFill>
                  <a:srgbClr val="6E6E6B"/>
                </a:solidFill>
                <a:latin typeface="Calibri" pitchFamily="34" charset="0"/>
                <a:ea typeface="Calibri" pitchFamily="34" charset="-122"/>
                <a:cs typeface="Calibri" pitchFamily="34" charset="-120"/>
              </a:rPr>
              <a:t>Voice-First Welfare Scheme Discovery</a:t>
            </a:r>
            <a:endParaRPr lang="en-US" sz="1300" dirty="0"/>
          </a:p>
        </p:txBody>
      </p:sp>
      <p:sp>
        <p:nvSpPr>
          <p:cNvPr id="6" name="Shape 4"/>
          <p:cNvSpPr/>
          <p:nvPr/>
        </p:nvSpPr>
        <p:spPr>
          <a:xfrm>
            <a:off x="640080" y="1920240"/>
            <a:ext cx="10881360" cy="0"/>
          </a:xfrm>
          <a:prstGeom prst="line">
            <a:avLst/>
          </a:prstGeom>
          <a:noFill/>
          <a:ln w="12700">
            <a:solidFill>
              <a:srgbClr val="DAD9D3"/>
            </a:solidFill>
            <a:prstDash val="solid"/>
          </a:ln>
        </p:spPr>
      </p:sp>
      <p:sp>
        <p:nvSpPr>
          <p:cNvPr id="7" name="Text 5"/>
          <p:cNvSpPr/>
          <p:nvPr/>
        </p:nvSpPr>
        <p:spPr>
          <a:xfrm>
            <a:off x="640080" y="2084832"/>
            <a:ext cx="2743200" cy="274320"/>
          </a:xfrm>
          <a:prstGeom prst="rect">
            <a:avLst/>
          </a:prstGeom>
          <a:noFill/>
          <a:ln/>
        </p:spPr>
        <p:txBody>
          <a:bodyPr wrap="square" rtlCol="0" anchor="ctr"/>
          <a:lstStyle/>
          <a:p>
            <a:pPr marL="0" indent="0">
              <a:buNone/>
            </a:pPr>
            <a:r>
              <a:rPr lang="en-US" sz="1100" b="1" kern="0" spc="200" dirty="0">
                <a:solidFill>
                  <a:srgbClr val="8A6D3F"/>
                </a:solidFill>
                <a:latin typeface="Calibri" pitchFamily="34" charset="0"/>
                <a:ea typeface="Calibri" pitchFamily="34" charset="-122"/>
                <a:cs typeface="Calibri" pitchFamily="34" charset="-120"/>
              </a:rPr>
              <a:t>ABSTRACT</a:t>
            </a:r>
            <a:endParaRPr lang="en-US" sz="1100" dirty="0"/>
          </a:p>
        </p:txBody>
      </p:sp>
      <p:sp>
        <p:nvSpPr>
          <p:cNvPr id="8" name="Text 6"/>
          <p:cNvSpPr/>
          <p:nvPr/>
        </p:nvSpPr>
        <p:spPr>
          <a:xfrm>
            <a:off x="640080" y="2423160"/>
            <a:ext cx="10881360" cy="2103120"/>
          </a:xfrm>
          <a:prstGeom prst="rect">
            <a:avLst/>
          </a:prstGeom>
          <a:noFill/>
          <a:ln/>
        </p:spPr>
        <p:txBody>
          <a:bodyPr wrap="square" rtlCol="0" anchor="t"/>
          <a:lstStyle/>
          <a:p>
            <a:pPr marL="0" indent="0" algn="just">
              <a:lnSpc>
                <a:spcPct val="128000"/>
              </a:lnSpc>
              <a:buNone/>
            </a:pPr>
            <a:r>
              <a:rPr lang="en-US" sz="1500" dirty="0">
                <a:solidFill>
                  <a:srgbClr val="3E3E3B"/>
                </a:solidFill>
                <a:latin typeface="Calibri" pitchFamily="34" charset="0"/>
                <a:ea typeface="Calibri" pitchFamily="34" charset="-122"/>
                <a:cs typeface="Calibri" pitchFamily="34" charset="-120"/>
              </a:rPr>
              <a:t>AI Scheme Navigator is a voice-first mobile app that helps elderly and rural citizens discover government welfare schemes they are actually eligible for, without needing to read complex forms or navigate confusing websites. Users simply speak about their situation — occupation, family status, income, or specific needs — in their own language, and the app listens, understands, and matches them against a database of schemes covering pensions, subsidies, healthcare, and education. Users can even photograph documents like ration cards or ID proofs, letting OCR auto-check eligibility instead of forcing them to interpret bureaucratic paperwork. By combining a simple multilingual Flutter interface with speech recognition, an LLM-based reasoning engine, and document OCR, the app turns a frustrating, exclusionary process into a natural conversation.</a:t>
            </a:r>
            <a:endParaRPr lang="en-US" sz="1500" dirty="0"/>
          </a:p>
        </p:txBody>
      </p:sp>
      <p:sp>
        <p:nvSpPr>
          <p:cNvPr id="9" name="Shape 7"/>
          <p:cNvSpPr/>
          <p:nvPr/>
        </p:nvSpPr>
        <p:spPr>
          <a:xfrm>
            <a:off x="640080" y="4800600"/>
            <a:ext cx="10881360" cy="0"/>
          </a:xfrm>
          <a:prstGeom prst="line">
            <a:avLst/>
          </a:prstGeom>
          <a:noFill/>
          <a:ln w="12700">
            <a:solidFill>
              <a:srgbClr val="DAD9D3"/>
            </a:solidFill>
            <a:prstDash val="solid"/>
          </a:ln>
        </p:spPr>
      </p:sp>
      <p:sp>
        <p:nvSpPr>
          <p:cNvPr id="10" name="Text 8"/>
          <p:cNvSpPr/>
          <p:nvPr/>
        </p:nvSpPr>
        <p:spPr>
          <a:xfrm>
            <a:off x="640080" y="4956048"/>
            <a:ext cx="3520440" cy="274320"/>
          </a:xfrm>
          <a:prstGeom prst="rect">
            <a:avLst/>
          </a:prstGeom>
          <a:noFill/>
          <a:ln/>
        </p:spPr>
        <p:txBody>
          <a:bodyPr wrap="square" rtlCol="0" anchor="ctr"/>
          <a:lstStyle/>
          <a:p>
            <a:pPr marL="0" indent="0">
              <a:buNone/>
            </a:pPr>
            <a:r>
              <a:rPr lang="en-US" sz="1050" b="1" kern="0" spc="100" dirty="0">
                <a:solidFill>
                  <a:srgbClr val="6E6E6B"/>
                </a:solidFill>
                <a:latin typeface="Calibri" pitchFamily="34" charset="0"/>
                <a:ea typeface="Calibri" pitchFamily="34" charset="-122"/>
                <a:cs typeface="Calibri" pitchFamily="34" charset="-120"/>
              </a:rPr>
              <a:t>TARGET USERS</a:t>
            </a:r>
            <a:endParaRPr lang="en-US" sz="1050" dirty="0"/>
          </a:p>
        </p:txBody>
      </p:sp>
      <p:sp>
        <p:nvSpPr>
          <p:cNvPr id="11" name="Text 9"/>
          <p:cNvSpPr/>
          <p:nvPr/>
        </p:nvSpPr>
        <p:spPr>
          <a:xfrm>
            <a:off x="640080" y="5230368"/>
            <a:ext cx="3520440" cy="548640"/>
          </a:xfrm>
          <a:prstGeom prst="rect">
            <a:avLst/>
          </a:prstGeom>
          <a:noFill/>
          <a:ln/>
        </p:spPr>
        <p:txBody>
          <a:bodyPr wrap="square" rtlCol="0" anchor="t"/>
          <a:lstStyle/>
          <a:p>
            <a:pPr marL="0" indent="0">
              <a:buNone/>
            </a:pPr>
            <a:r>
              <a:rPr lang="en-US" sz="1550" b="1" dirty="0">
                <a:solidFill>
                  <a:srgbClr val="242422"/>
                </a:solidFill>
                <a:latin typeface="Cambria" pitchFamily="34" charset="0"/>
                <a:ea typeface="Cambria" pitchFamily="34" charset="-122"/>
                <a:cs typeface="Cambria" pitchFamily="34" charset="-120"/>
              </a:rPr>
              <a:t>Elderly &amp; rural citizens</a:t>
            </a:r>
            <a:endParaRPr lang="en-US" sz="1550" dirty="0"/>
          </a:p>
        </p:txBody>
      </p:sp>
      <p:sp>
        <p:nvSpPr>
          <p:cNvPr id="12" name="Text 10"/>
          <p:cNvSpPr/>
          <p:nvPr/>
        </p:nvSpPr>
        <p:spPr>
          <a:xfrm>
            <a:off x="4343400" y="4956048"/>
            <a:ext cx="3520440" cy="274320"/>
          </a:xfrm>
          <a:prstGeom prst="rect">
            <a:avLst/>
          </a:prstGeom>
          <a:noFill/>
          <a:ln/>
        </p:spPr>
        <p:txBody>
          <a:bodyPr wrap="square" rtlCol="0" anchor="ctr"/>
          <a:lstStyle/>
          <a:p>
            <a:pPr marL="0" indent="0">
              <a:buNone/>
            </a:pPr>
            <a:r>
              <a:rPr lang="en-US" sz="1050" b="1" kern="0" spc="100" dirty="0">
                <a:solidFill>
                  <a:srgbClr val="6E6E6B"/>
                </a:solidFill>
                <a:latin typeface="Calibri" pitchFamily="34" charset="0"/>
                <a:ea typeface="Calibri" pitchFamily="34" charset="-122"/>
                <a:cs typeface="Calibri" pitchFamily="34" charset="-120"/>
              </a:rPr>
              <a:t>CORE IDEA</a:t>
            </a:r>
            <a:endParaRPr lang="en-US" sz="1050" dirty="0"/>
          </a:p>
        </p:txBody>
      </p:sp>
      <p:sp>
        <p:nvSpPr>
          <p:cNvPr id="13" name="Text 11"/>
          <p:cNvSpPr/>
          <p:nvPr/>
        </p:nvSpPr>
        <p:spPr>
          <a:xfrm>
            <a:off x="4343400" y="5230368"/>
            <a:ext cx="3520440" cy="548640"/>
          </a:xfrm>
          <a:prstGeom prst="rect">
            <a:avLst/>
          </a:prstGeom>
          <a:noFill/>
          <a:ln/>
        </p:spPr>
        <p:txBody>
          <a:bodyPr wrap="square" rtlCol="0" anchor="t"/>
          <a:lstStyle/>
          <a:p>
            <a:pPr marL="0" indent="0">
              <a:buNone/>
            </a:pPr>
            <a:r>
              <a:rPr lang="en-US" sz="1550" b="1" dirty="0">
                <a:solidFill>
                  <a:srgbClr val="242422"/>
                </a:solidFill>
                <a:latin typeface="Cambria" pitchFamily="34" charset="0"/>
                <a:ea typeface="Cambria" pitchFamily="34" charset="-122"/>
                <a:cs typeface="Cambria" pitchFamily="34" charset="-120"/>
              </a:rPr>
              <a:t>Speak, match, and explain</a:t>
            </a:r>
            <a:endParaRPr lang="en-US" sz="1550" dirty="0"/>
          </a:p>
        </p:txBody>
      </p:sp>
      <p:sp>
        <p:nvSpPr>
          <p:cNvPr id="14" name="Shape 12"/>
          <p:cNvSpPr/>
          <p:nvPr/>
        </p:nvSpPr>
        <p:spPr>
          <a:xfrm>
            <a:off x="4160520" y="4956048"/>
            <a:ext cx="0" cy="822960"/>
          </a:xfrm>
          <a:prstGeom prst="line">
            <a:avLst/>
          </a:prstGeom>
          <a:noFill/>
          <a:ln w="12700">
            <a:solidFill>
              <a:srgbClr val="DAD9D3"/>
            </a:solidFill>
            <a:prstDash val="solid"/>
          </a:ln>
        </p:spPr>
      </p:sp>
      <p:sp>
        <p:nvSpPr>
          <p:cNvPr id="15" name="Text 13"/>
          <p:cNvSpPr/>
          <p:nvPr/>
        </p:nvSpPr>
        <p:spPr>
          <a:xfrm>
            <a:off x="8046720" y="4956048"/>
            <a:ext cx="3520440" cy="274320"/>
          </a:xfrm>
          <a:prstGeom prst="rect">
            <a:avLst/>
          </a:prstGeom>
          <a:noFill/>
          <a:ln/>
        </p:spPr>
        <p:txBody>
          <a:bodyPr wrap="square" rtlCol="0" anchor="ctr"/>
          <a:lstStyle/>
          <a:p>
            <a:pPr marL="0" indent="0">
              <a:buNone/>
            </a:pPr>
            <a:r>
              <a:rPr lang="en-US" sz="1050" b="1" kern="0" spc="100" dirty="0">
                <a:solidFill>
                  <a:srgbClr val="6E6E6B"/>
                </a:solidFill>
                <a:latin typeface="Calibri" pitchFamily="34" charset="0"/>
                <a:ea typeface="Calibri" pitchFamily="34" charset="-122"/>
                <a:cs typeface="Calibri" pitchFamily="34" charset="-120"/>
              </a:rPr>
              <a:t>KEY TECH</a:t>
            </a:r>
            <a:endParaRPr lang="en-US" sz="1050" dirty="0"/>
          </a:p>
        </p:txBody>
      </p:sp>
      <p:sp>
        <p:nvSpPr>
          <p:cNvPr id="16" name="Text 14"/>
          <p:cNvSpPr/>
          <p:nvPr/>
        </p:nvSpPr>
        <p:spPr>
          <a:xfrm>
            <a:off x="8046720" y="5230368"/>
            <a:ext cx="3520440" cy="548640"/>
          </a:xfrm>
          <a:prstGeom prst="rect">
            <a:avLst/>
          </a:prstGeom>
          <a:noFill/>
          <a:ln/>
        </p:spPr>
        <p:txBody>
          <a:bodyPr wrap="square" rtlCol="0" anchor="t"/>
          <a:lstStyle/>
          <a:p>
            <a:pPr marL="0" indent="0">
              <a:buNone/>
            </a:pPr>
            <a:r>
              <a:rPr lang="en-US" sz="1550" b="1" dirty="0">
                <a:solidFill>
                  <a:srgbClr val="242422"/>
                </a:solidFill>
                <a:latin typeface="Cambria" pitchFamily="34" charset="0"/>
                <a:ea typeface="Cambria" pitchFamily="34" charset="-122"/>
                <a:cs typeface="Cambria" pitchFamily="34" charset="-120"/>
              </a:rPr>
              <a:t>Speech recognition, LLM, OCR</a:t>
            </a:r>
            <a:endParaRPr lang="en-US" sz="1550" dirty="0"/>
          </a:p>
        </p:txBody>
      </p:sp>
      <p:sp>
        <p:nvSpPr>
          <p:cNvPr id="17" name="Shape 15"/>
          <p:cNvSpPr/>
          <p:nvPr/>
        </p:nvSpPr>
        <p:spPr>
          <a:xfrm>
            <a:off x="7863840" y="4956048"/>
            <a:ext cx="0" cy="822960"/>
          </a:xfrm>
          <a:prstGeom prst="line">
            <a:avLst/>
          </a:prstGeom>
          <a:noFill/>
          <a:ln w="12700">
            <a:solidFill>
              <a:srgbClr val="DAD9D3"/>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2.1</a:t>
            </a:r>
            <a:endParaRPr lang="en-US" sz="1300" dirty="0"/>
          </a:p>
        </p:txBody>
      </p:sp>
      <p:sp>
        <p:nvSpPr>
          <p:cNvPr id="3" name="Text 1"/>
          <p:cNvSpPr/>
          <p:nvPr/>
        </p:nvSpPr>
        <p:spPr>
          <a:xfrm>
            <a:off x="640080" y="822960"/>
            <a:ext cx="10515600" cy="594360"/>
          </a:xfrm>
          <a:prstGeom prst="rect">
            <a:avLst/>
          </a:prstGeom>
          <a:noFill/>
          <a:ln/>
        </p:spPr>
        <p:txBody>
          <a:bodyPr wrap="square" rtlCol="0" anchor="ctr"/>
          <a:lstStyle/>
          <a:p>
            <a:pPr marL="0" indent="0">
              <a:buNone/>
            </a:pPr>
            <a:r>
              <a:rPr lang="en-US" sz="2400" b="1" dirty="0">
                <a:solidFill>
                  <a:srgbClr val="242422"/>
                </a:solidFill>
                <a:latin typeface="Cambria" pitchFamily="34" charset="0"/>
                <a:ea typeface="Cambria" pitchFamily="34" charset="-122"/>
                <a:cs typeface="Cambria" pitchFamily="34" charset="-120"/>
              </a:rPr>
              <a:t>From a Spoken Sentence to a Matched Scheme</a:t>
            </a:r>
            <a:endParaRPr lang="en-US" sz="2400" dirty="0"/>
          </a:p>
        </p:txBody>
      </p:sp>
      <p:sp>
        <p:nvSpPr>
          <p:cNvPr id="4" name="Shape 2"/>
          <p:cNvSpPr/>
          <p:nvPr/>
        </p:nvSpPr>
        <p:spPr>
          <a:xfrm>
            <a:off x="1866748" y="2377440"/>
            <a:ext cx="1737360" cy="1371600"/>
          </a:xfrm>
          <a:prstGeom prst="rect">
            <a:avLst/>
          </a:prstGeom>
          <a:solidFill>
            <a:srgbClr val="FFFFFF"/>
          </a:solidFill>
          <a:ln w="15875">
            <a:solidFill>
              <a:srgbClr val="DAD9D3"/>
            </a:solidFill>
            <a:prstDash val="solid"/>
          </a:ln>
        </p:spPr>
      </p:sp>
      <p:sp>
        <p:nvSpPr>
          <p:cNvPr id="5" name="Text 3"/>
          <p:cNvSpPr/>
          <p:nvPr/>
        </p:nvSpPr>
        <p:spPr>
          <a:xfrm>
            <a:off x="2003908" y="2468880"/>
            <a:ext cx="731520" cy="27432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01</a:t>
            </a:r>
            <a:endParaRPr lang="en-US" sz="1100" dirty="0"/>
          </a:p>
        </p:txBody>
      </p:sp>
      <p:pic>
        <p:nvPicPr>
          <p:cNvPr id="6" name="Image 0" descr="preencoded.png"/>
          <p:cNvPicPr>
            <a:picLocks noChangeAspect="1"/>
          </p:cNvPicPr>
          <p:nvPr/>
        </p:nvPicPr>
        <p:blipFill>
          <a:blip r:embed="rId3"/>
          <a:stretch>
            <a:fillRect/>
          </a:stretch>
        </p:blipFill>
        <p:spPr>
          <a:xfrm>
            <a:off x="2479396" y="2816352"/>
            <a:ext cx="512064" cy="512064"/>
          </a:xfrm>
          <a:prstGeom prst="rect">
            <a:avLst/>
          </a:prstGeom>
        </p:spPr>
      </p:pic>
      <p:sp>
        <p:nvSpPr>
          <p:cNvPr id="7" name="Text 4"/>
          <p:cNvSpPr/>
          <p:nvPr/>
        </p:nvSpPr>
        <p:spPr>
          <a:xfrm>
            <a:off x="1866748" y="3364992"/>
            <a:ext cx="1737360" cy="329184"/>
          </a:xfrm>
          <a:prstGeom prst="rect">
            <a:avLst/>
          </a:prstGeom>
          <a:noFill/>
          <a:ln/>
        </p:spPr>
        <p:txBody>
          <a:bodyPr wrap="square" rtlCol="0" anchor="ctr"/>
          <a:lstStyle/>
          <a:p>
            <a:pPr marL="0" indent="0" algn="ctr">
              <a:buNone/>
            </a:pPr>
            <a:r>
              <a:rPr lang="en-US" sz="1350" b="1" dirty="0">
                <a:solidFill>
                  <a:srgbClr val="242422"/>
                </a:solidFill>
                <a:latin typeface="Cambria" pitchFamily="34" charset="0"/>
                <a:ea typeface="Cambria" pitchFamily="34" charset="-122"/>
                <a:cs typeface="Cambria" pitchFamily="34" charset="-120"/>
              </a:rPr>
              <a:t>Speak</a:t>
            </a:r>
            <a:endParaRPr lang="en-US" sz="1350" dirty="0"/>
          </a:p>
        </p:txBody>
      </p:sp>
      <p:sp>
        <p:nvSpPr>
          <p:cNvPr id="8" name="Text 5"/>
          <p:cNvSpPr/>
          <p:nvPr/>
        </p:nvSpPr>
        <p:spPr>
          <a:xfrm>
            <a:off x="1638148" y="3977640"/>
            <a:ext cx="2194560" cy="1188720"/>
          </a:xfrm>
          <a:prstGeom prst="rect">
            <a:avLst/>
          </a:prstGeom>
          <a:noFill/>
          <a:ln/>
        </p:spPr>
        <p:txBody>
          <a:bodyPr wrap="square" rtlCol="0" anchor="t"/>
          <a:lstStyle/>
          <a:p>
            <a:pPr marL="0" indent="0" algn="ctr">
              <a:lnSpc>
                <a:spcPct val="115000"/>
              </a:lnSpc>
              <a:buNone/>
            </a:pPr>
            <a:r>
              <a:rPr lang="en-US" sz="1500" dirty="0">
                <a:solidFill>
                  <a:srgbClr val="6E6E6B"/>
                </a:solidFill>
                <a:latin typeface="Calibri" pitchFamily="34" charset="0"/>
                <a:ea typeface="Calibri" pitchFamily="34" charset="-122"/>
                <a:cs typeface="Calibri" pitchFamily="34" charset="-120"/>
              </a:rPr>
              <a:t>User describes their situation out loud, in their own language</a:t>
            </a:r>
            <a:endParaRPr lang="en-US" sz="1500" dirty="0"/>
          </a:p>
        </p:txBody>
      </p:sp>
      <p:sp>
        <p:nvSpPr>
          <p:cNvPr id="9" name="Shape 6"/>
          <p:cNvSpPr/>
          <p:nvPr/>
        </p:nvSpPr>
        <p:spPr>
          <a:xfrm>
            <a:off x="3649828" y="2926080"/>
            <a:ext cx="411480" cy="274320"/>
          </a:xfrm>
          <a:prstGeom prst="rightArrow">
            <a:avLst/>
          </a:prstGeom>
          <a:solidFill>
            <a:srgbClr val="DAD9D3"/>
          </a:solidFill>
          <a:ln/>
        </p:spPr>
      </p:sp>
      <p:sp>
        <p:nvSpPr>
          <p:cNvPr id="10" name="Shape 7"/>
          <p:cNvSpPr/>
          <p:nvPr/>
        </p:nvSpPr>
        <p:spPr>
          <a:xfrm>
            <a:off x="4107028" y="2377440"/>
            <a:ext cx="1737360" cy="1371600"/>
          </a:xfrm>
          <a:prstGeom prst="rect">
            <a:avLst/>
          </a:prstGeom>
          <a:solidFill>
            <a:srgbClr val="FFFFFF"/>
          </a:solidFill>
          <a:ln w="15875">
            <a:solidFill>
              <a:srgbClr val="DAD9D3"/>
            </a:solidFill>
            <a:prstDash val="solid"/>
          </a:ln>
        </p:spPr>
      </p:sp>
      <p:sp>
        <p:nvSpPr>
          <p:cNvPr id="11" name="Text 8"/>
          <p:cNvSpPr/>
          <p:nvPr/>
        </p:nvSpPr>
        <p:spPr>
          <a:xfrm>
            <a:off x="4244188" y="2468880"/>
            <a:ext cx="731520" cy="27432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02</a:t>
            </a:r>
            <a:endParaRPr lang="en-US" sz="1100" dirty="0"/>
          </a:p>
        </p:txBody>
      </p:sp>
      <p:pic>
        <p:nvPicPr>
          <p:cNvPr id="12" name="Image 1" descr="preencoded.png"/>
          <p:cNvPicPr>
            <a:picLocks noChangeAspect="1"/>
          </p:cNvPicPr>
          <p:nvPr/>
        </p:nvPicPr>
        <p:blipFill>
          <a:blip r:embed="rId4"/>
          <a:stretch>
            <a:fillRect/>
          </a:stretch>
        </p:blipFill>
        <p:spPr>
          <a:xfrm>
            <a:off x="4719676" y="2816352"/>
            <a:ext cx="512064" cy="512064"/>
          </a:xfrm>
          <a:prstGeom prst="rect">
            <a:avLst/>
          </a:prstGeom>
        </p:spPr>
      </p:pic>
      <p:sp>
        <p:nvSpPr>
          <p:cNvPr id="13" name="Text 9"/>
          <p:cNvSpPr/>
          <p:nvPr/>
        </p:nvSpPr>
        <p:spPr>
          <a:xfrm>
            <a:off x="4107028" y="3364992"/>
            <a:ext cx="1737360" cy="329184"/>
          </a:xfrm>
          <a:prstGeom prst="rect">
            <a:avLst/>
          </a:prstGeom>
          <a:noFill/>
          <a:ln/>
        </p:spPr>
        <p:txBody>
          <a:bodyPr wrap="square" rtlCol="0" anchor="ctr"/>
          <a:lstStyle/>
          <a:p>
            <a:pPr marL="0" indent="0" algn="ctr">
              <a:buNone/>
            </a:pPr>
            <a:r>
              <a:rPr lang="en-US" sz="1350" b="1" dirty="0">
                <a:solidFill>
                  <a:srgbClr val="242422"/>
                </a:solidFill>
                <a:latin typeface="Cambria" pitchFamily="34" charset="0"/>
                <a:ea typeface="Cambria" pitchFamily="34" charset="-122"/>
                <a:cs typeface="Cambria" pitchFamily="34" charset="-120"/>
              </a:rPr>
              <a:t>Understand</a:t>
            </a:r>
            <a:endParaRPr lang="en-US" sz="1350" dirty="0"/>
          </a:p>
        </p:txBody>
      </p:sp>
      <p:sp>
        <p:nvSpPr>
          <p:cNvPr id="14" name="Text 10"/>
          <p:cNvSpPr/>
          <p:nvPr/>
        </p:nvSpPr>
        <p:spPr>
          <a:xfrm>
            <a:off x="3878428" y="3977640"/>
            <a:ext cx="2194560" cy="1188720"/>
          </a:xfrm>
          <a:prstGeom prst="rect">
            <a:avLst/>
          </a:prstGeom>
          <a:noFill/>
          <a:ln/>
        </p:spPr>
        <p:txBody>
          <a:bodyPr wrap="square" rtlCol="0" anchor="t"/>
          <a:lstStyle/>
          <a:p>
            <a:pPr marL="0" indent="0" algn="ctr">
              <a:lnSpc>
                <a:spcPct val="115000"/>
              </a:lnSpc>
              <a:buNone/>
            </a:pPr>
            <a:r>
              <a:rPr lang="en-US" sz="1500" dirty="0">
                <a:solidFill>
                  <a:srgbClr val="6E6E6B"/>
                </a:solidFill>
                <a:latin typeface="Calibri" pitchFamily="34" charset="0"/>
                <a:ea typeface="Calibri" pitchFamily="34" charset="-122"/>
                <a:cs typeface="Calibri" pitchFamily="34" charset="-120"/>
              </a:rPr>
              <a:t>LLM extracts occupation, income &amp; family details from speech</a:t>
            </a:r>
            <a:endParaRPr lang="en-US" sz="1500" dirty="0"/>
          </a:p>
        </p:txBody>
      </p:sp>
      <p:sp>
        <p:nvSpPr>
          <p:cNvPr id="15" name="Shape 11"/>
          <p:cNvSpPr/>
          <p:nvPr/>
        </p:nvSpPr>
        <p:spPr>
          <a:xfrm>
            <a:off x="5890108" y="2926080"/>
            <a:ext cx="411480" cy="274320"/>
          </a:xfrm>
          <a:prstGeom prst="rightArrow">
            <a:avLst/>
          </a:prstGeom>
          <a:solidFill>
            <a:srgbClr val="DAD9D3"/>
          </a:solidFill>
          <a:ln/>
        </p:spPr>
      </p:sp>
      <p:sp>
        <p:nvSpPr>
          <p:cNvPr id="16" name="Shape 12"/>
          <p:cNvSpPr/>
          <p:nvPr/>
        </p:nvSpPr>
        <p:spPr>
          <a:xfrm>
            <a:off x="6347308" y="2377440"/>
            <a:ext cx="1737360" cy="1371600"/>
          </a:xfrm>
          <a:prstGeom prst="rect">
            <a:avLst/>
          </a:prstGeom>
          <a:solidFill>
            <a:srgbClr val="FFFFFF"/>
          </a:solidFill>
          <a:ln w="15875">
            <a:solidFill>
              <a:srgbClr val="DAD9D3"/>
            </a:solidFill>
            <a:prstDash val="solid"/>
          </a:ln>
        </p:spPr>
      </p:sp>
      <p:sp>
        <p:nvSpPr>
          <p:cNvPr id="17" name="Text 13"/>
          <p:cNvSpPr/>
          <p:nvPr/>
        </p:nvSpPr>
        <p:spPr>
          <a:xfrm>
            <a:off x="6484468" y="2468880"/>
            <a:ext cx="731520" cy="27432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03</a:t>
            </a:r>
            <a:endParaRPr lang="en-US" sz="1100" dirty="0"/>
          </a:p>
        </p:txBody>
      </p:sp>
      <p:pic>
        <p:nvPicPr>
          <p:cNvPr id="18" name="Image 2" descr="preencoded.png"/>
          <p:cNvPicPr>
            <a:picLocks noChangeAspect="1"/>
          </p:cNvPicPr>
          <p:nvPr/>
        </p:nvPicPr>
        <p:blipFill>
          <a:blip r:embed="rId5"/>
          <a:stretch>
            <a:fillRect/>
          </a:stretch>
        </p:blipFill>
        <p:spPr>
          <a:xfrm>
            <a:off x="6959956" y="2816352"/>
            <a:ext cx="512064" cy="512064"/>
          </a:xfrm>
          <a:prstGeom prst="rect">
            <a:avLst/>
          </a:prstGeom>
        </p:spPr>
      </p:pic>
      <p:sp>
        <p:nvSpPr>
          <p:cNvPr id="19" name="Text 14"/>
          <p:cNvSpPr/>
          <p:nvPr/>
        </p:nvSpPr>
        <p:spPr>
          <a:xfrm>
            <a:off x="6347308" y="3364992"/>
            <a:ext cx="1737360" cy="329184"/>
          </a:xfrm>
          <a:prstGeom prst="rect">
            <a:avLst/>
          </a:prstGeom>
          <a:noFill/>
          <a:ln/>
        </p:spPr>
        <p:txBody>
          <a:bodyPr wrap="square" rtlCol="0" anchor="ctr"/>
          <a:lstStyle/>
          <a:p>
            <a:pPr marL="0" indent="0" algn="ctr">
              <a:buNone/>
            </a:pPr>
            <a:r>
              <a:rPr lang="en-US" sz="1350" b="1" dirty="0">
                <a:solidFill>
                  <a:srgbClr val="242422"/>
                </a:solidFill>
                <a:latin typeface="Cambria" pitchFamily="34" charset="0"/>
                <a:ea typeface="Cambria" pitchFamily="34" charset="-122"/>
                <a:cs typeface="Cambria" pitchFamily="34" charset="-120"/>
              </a:rPr>
              <a:t>Verify</a:t>
            </a:r>
            <a:endParaRPr lang="en-US" sz="1350" dirty="0"/>
          </a:p>
        </p:txBody>
      </p:sp>
      <p:sp>
        <p:nvSpPr>
          <p:cNvPr id="20" name="Text 15"/>
          <p:cNvSpPr/>
          <p:nvPr/>
        </p:nvSpPr>
        <p:spPr>
          <a:xfrm>
            <a:off x="6118708" y="3977640"/>
            <a:ext cx="2194560" cy="1188720"/>
          </a:xfrm>
          <a:prstGeom prst="rect">
            <a:avLst/>
          </a:prstGeom>
          <a:noFill/>
          <a:ln/>
        </p:spPr>
        <p:txBody>
          <a:bodyPr wrap="square" rtlCol="0" anchor="t"/>
          <a:lstStyle/>
          <a:p>
            <a:pPr marL="0" indent="0" algn="ctr">
              <a:lnSpc>
                <a:spcPct val="115000"/>
              </a:lnSpc>
              <a:buNone/>
            </a:pPr>
            <a:r>
              <a:rPr lang="en-US" sz="1500" dirty="0">
                <a:solidFill>
                  <a:srgbClr val="6E6E6B"/>
                </a:solidFill>
                <a:latin typeface="Calibri" pitchFamily="34" charset="0"/>
                <a:ea typeface="Calibri" pitchFamily="34" charset="-122"/>
                <a:cs typeface="Calibri" pitchFamily="34" charset="-120"/>
              </a:rPr>
              <a:t>OCR cross-checks uploaded documents against scheme rules</a:t>
            </a:r>
            <a:endParaRPr lang="en-US" sz="1500" dirty="0"/>
          </a:p>
        </p:txBody>
      </p:sp>
      <p:sp>
        <p:nvSpPr>
          <p:cNvPr id="21" name="Shape 16"/>
          <p:cNvSpPr/>
          <p:nvPr/>
        </p:nvSpPr>
        <p:spPr>
          <a:xfrm>
            <a:off x="8130388" y="2926080"/>
            <a:ext cx="411480" cy="274320"/>
          </a:xfrm>
          <a:prstGeom prst="rightArrow">
            <a:avLst/>
          </a:prstGeom>
          <a:solidFill>
            <a:srgbClr val="DAD9D3"/>
          </a:solidFill>
          <a:ln/>
        </p:spPr>
      </p:sp>
      <p:sp>
        <p:nvSpPr>
          <p:cNvPr id="22" name="Shape 17"/>
          <p:cNvSpPr/>
          <p:nvPr/>
        </p:nvSpPr>
        <p:spPr>
          <a:xfrm>
            <a:off x="8587588" y="2377440"/>
            <a:ext cx="1737360" cy="1371600"/>
          </a:xfrm>
          <a:prstGeom prst="rect">
            <a:avLst/>
          </a:prstGeom>
          <a:solidFill>
            <a:srgbClr val="FFFFFF"/>
          </a:solidFill>
          <a:ln w="15875">
            <a:solidFill>
              <a:srgbClr val="DAD9D3"/>
            </a:solidFill>
            <a:prstDash val="solid"/>
          </a:ln>
        </p:spPr>
      </p:sp>
      <p:sp>
        <p:nvSpPr>
          <p:cNvPr id="23" name="Text 18"/>
          <p:cNvSpPr/>
          <p:nvPr/>
        </p:nvSpPr>
        <p:spPr>
          <a:xfrm>
            <a:off x="8724748" y="2468880"/>
            <a:ext cx="731520" cy="27432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04</a:t>
            </a:r>
            <a:endParaRPr lang="en-US" sz="1100" dirty="0"/>
          </a:p>
        </p:txBody>
      </p:sp>
      <p:pic>
        <p:nvPicPr>
          <p:cNvPr id="24" name="Image 3" descr="preencoded.png"/>
          <p:cNvPicPr>
            <a:picLocks noChangeAspect="1"/>
          </p:cNvPicPr>
          <p:nvPr/>
        </p:nvPicPr>
        <p:blipFill>
          <a:blip r:embed="rId6"/>
          <a:stretch>
            <a:fillRect/>
          </a:stretch>
        </p:blipFill>
        <p:spPr>
          <a:xfrm>
            <a:off x="9200236" y="2816352"/>
            <a:ext cx="512064" cy="512064"/>
          </a:xfrm>
          <a:prstGeom prst="rect">
            <a:avLst/>
          </a:prstGeom>
        </p:spPr>
      </p:pic>
      <p:sp>
        <p:nvSpPr>
          <p:cNvPr id="25" name="Text 19"/>
          <p:cNvSpPr/>
          <p:nvPr/>
        </p:nvSpPr>
        <p:spPr>
          <a:xfrm>
            <a:off x="8587588" y="3364992"/>
            <a:ext cx="1737360" cy="329184"/>
          </a:xfrm>
          <a:prstGeom prst="rect">
            <a:avLst/>
          </a:prstGeom>
          <a:noFill/>
          <a:ln/>
        </p:spPr>
        <p:txBody>
          <a:bodyPr wrap="square" rtlCol="0" anchor="ctr"/>
          <a:lstStyle/>
          <a:p>
            <a:pPr marL="0" indent="0" algn="ctr">
              <a:buNone/>
            </a:pPr>
            <a:r>
              <a:rPr lang="en-US" sz="1350" b="1" dirty="0">
                <a:solidFill>
                  <a:srgbClr val="242422"/>
                </a:solidFill>
                <a:latin typeface="Cambria" pitchFamily="34" charset="0"/>
                <a:ea typeface="Cambria" pitchFamily="34" charset="-122"/>
                <a:cs typeface="Cambria" pitchFamily="34" charset="-120"/>
              </a:rPr>
              <a:t>Respond</a:t>
            </a:r>
            <a:endParaRPr lang="en-US" sz="1350" dirty="0"/>
          </a:p>
        </p:txBody>
      </p:sp>
      <p:sp>
        <p:nvSpPr>
          <p:cNvPr id="26" name="Text 20"/>
          <p:cNvSpPr/>
          <p:nvPr/>
        </p:nvSpPr>
        <p:spPr>
          <a:xfrm>
            <a:off x="8358988" y="3977640"/>
            <a:ext cx="2194560" cy="1188720"/>
          </a:xfrm>
          <a:prstGeom prst="rect">
            <a:avLst/>
          </a:prstGeom>
          <a:noFill/>
          <a:ln/>
        </p:spPr>
        <p:txBody>
          <a:bodyPr wrap="square" rtlCol="0" anchor="t"/>
          <a:lstStyle/>
          <a:p>
            <a:pPr marL="0" indent="0" algn="ctr">
              <a:lnSpc>
                <a:spcPct val="115000"/>
              </a:lnSpc>
              <a:buNone/>
            </a:pPr>
            <a:r>
              <a:rPr lang="en-US" sz="1500" dirty="0">
                <a:solidFill>
                  <a:srgbClr val="6E6E6B"/>
                </a:solidFill>
                <a:latin typeface="Calibri" pitchFamily="34" charset="0"/>
                <a:ea typeface="Calibri" pitchFamily="34" charset="-122"/>
                <a:cs typeface="Calibri" pitchFamily="34" charset="-120"/>
              </a:rPr>
              <a:t>App explains eligible schemes &amp; documents needed, by voice</a:t>
            </a:r>
            <a:endParaRPr lang="en-US" sz="1500" dirty="0"/>
          </a:p>
        </p:txBody>
      </p:sp>
      <p:sp>
        <p:nvSpPr>
          <p:cNvPr id="27" name="Shape 21"/>
          <p:cNvSpPr/>
          <p:nvPr/>
        </p:nvSpPr>
        <p:spPr>
          <a:xfrm>
            <a:off x="640080" y="6172200"/>
            <a:ext cx="10881360" cy="0"/>
          </a:xfrm>
          <a:prstGeom prst="line">
            <a:avLst/>
          </a:prstGeom>
          <a:noFill/>
          <a:ln w="12700">
            <a:solidFill>
              <a:srgbClr val="DAD9D3"/>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2.2</a:t>
            </a:r>
            <a:endParaRPr lang="en-US" sz="1300" dirty="0"/>
          </a:p>
        </p:txBody>
      </p:sp>
      <p:sp>
        <p:nvSpPr>
          <p:cNvPr id="3" name="Text 1"/>
          <p:cNvSpPr/>
          <p:nvPr/>
        </p:nvSpPr>
        <p:spPr>
          <a:xfrm>
            <a:off x="640080" y="822960"/>
            <a:ext cx="10058400" cy="594360"/>
          </a:xfrm>
          <a:prstGeom prst="rect">
            <a:avLst/>
          </a:prstGeom>
          <a:noFill/>
          <a:ln/>
        </p:spPr>
        <p:txBody>
          <a:bodyPr wrap="square" rtlCol="0" anchor="ctr"/>
          <a:lstStyle/>
          <a:p>
            <a:pPr marL="0" indent="0">
              <a:buNone/>
            </a:pPr>
            <a:r>
              <a:rPr lang="en-US" sz="2500" b="1" dirty="0">
                <a:solidFill>
                  <a:srgbClr val="242422"/>
                </a:solidFill>
                <a:latin typeface="Cambria" pitchFamily="34" charset="0"/>
                <a:ea typeface="Cambria" pitchFamily="34" charset="-122"/>
                <a:cs typeface="Cambria" pitchFamily="34" charset="-120"/>
              </a:rPr>
              <a:t>AI Scheme Navigator — System Modules</a:t>
            </a:r>
            <a:endParaRPr lang="en-US" sz="2500" dirty="0"/>
          </a:p>
        </p:txBody>
      </p:sp>
      <p:sp>
        <p:nvSpPr>
          <p:cNvPr id="4" name="Shape 2"/>
          <p:cNvSpPr/>
          <p:nvPr/>
        </p:nvSpPr>
        <p:spPr>
          <a:xfrm>
            <a:off x="640080" y="1508760"/>
            <a:ext cx="10881360" cy="0"/>
          </a:xfrm>
          <a:prstGeom prst="line">
            <a:avLst/>
          </a:prstGeom>
          <a:noFill/>
          <a:ln w="12700">
            <a:solidFill>
              <a:srgbClr val="DAD9D3"/>
            </a:solidFill>
            <a:prstDash val="solid"/>
          </a:ln>
        </p:spPr>
      </p:sp>
      <p:pic>
        <p:nvPicPr>
          <p:cNvPr id="5" name="Image 0" descr="preencoded.png"/>
          <p:cNvPicPr>
            <a:picLocks noChangeAspect="1"/>
          </p:cNvPicPr>
          <p:nvPr/>
        </p:nvPicPr>
        <p:blipFill>
          <a:blip r:embed="rId3"/>
          <a:stretch>
            <a:fillRect/>
          </a:stretch>
        </p:blipFill>
        <p:spPr>
          <a:xfrm>
            <a:off x="640080" y="1792224"/>
            <a:ext cx="310896" cy="310896"/>
          </a:xfrm>
          <a:prstGeom prst="rect">
            <a:avLst/>
          </a:prstGeom>
        </p:spPr>
      </p:pic>
      <p:sp>
        <p:nvSpPr>
          <p:cNvPr id="6" name="Text 3"/>
          <p:cNvSpPr/>
          <p:nvPr/>
        </p:nvSpPr>
        <p:spPr>
          <a:xfrm>
            <a:off x="1042416" y="1719072"/>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01</a:t>
            </a:r>
            <a:endParaRPr lang="en-US" sz="1100" dirty="0"/>
          </a:p>
        </p:txBody>
      </p:sp>
      <p:sp>
        <p:nvSpPr>
          <p:cNvPr id="7" name="Text 4"/>
          <p:cNvSpPr/>
          <p:nvPr/>
        </p:nvSpPr>
        <p:spPr>
          <a:xfrm>
            <a:off x="640080" y="2157984"/>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Voice Input &amp; Speech Recognition</a:t>
            </a:r>
            <a:endParaRPr lang="en-US" sz="1400" dirty="0"/>
          </a:p>
        </p:txBody>
      </p:sp>
      <p:sp>
        <p:nvSpPr>
          <p:cNvPr id="8" name="Text 5"/>
          <p:cNvSpPr/>
          <p:nvPr/>
        </p:nvSpPr>
        <p:spPr>
          <a:xfrm>
            <a:off x="640080" y="2523744"/>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Captures spoken queries in the user's regional language</a:t>
            </a:r>
            <a:endParaRPr lang="en-US" sz="1500" dirty="0"/>
          </a:p>
        </p:txBody>
      </p:sp>
      <p:sp>
        <p:nvSpPr>
          <p:cNvPr id="9" name="Shape 6"/>
          <p:cNvSpPr/>
          <p:nvPr/>
        </p:nvSpPr>
        <p:spPr>
          <a:xfrm>
            <a:off x="640080" y="3054096"/>
            <a:ext cx="5257800" cy="0"/>
          </a:xfrm>
          <a:prstGeom prst="line">
            <a:avLst/>
          </a:prstGeom>
          <a:noFill/>
          <a:ln w="9525">
            <a:solidFill>
              <a:srgbClr val="DAD9D3"/>
            </a:solidFill>
            <a:prstDash val="solid"/>
          </a:ln>
        </p:spPr>
      </p:sp>
      <p:pic>
        <p:nvPicPr>
          <p:cNvPr id="10" name="Image 1" descr="preencoded.png"/>
          <p:cNvPicPr>
            <a:picLocks noChangeAspect="1"/>
          </p:cNvPicPr>
          <p:nvPr/>
        </p:nvPicPr>
        <p:blipFill>
          <a:blip r:embed="rId4"/>
          <a:stretch>
            <a:fillRect/>
          </a:stretch>
        </p:blipFill>
        <p:spPr>
          <a:xfrm>
            <a:off x="6263640" y="1792224"/>
            <a:ext cx="310896" cy="310896"/>
          </a:xfrm>
          <a:prstGeom prst="rect">
            <a:avLst/>
          </a:prstGeom>
        </p:spPr>
      </p:pic>
      <p:sp>
        <p:nvSpPr>
          <p:cNvPr id="11" name="Text 7"/>
          <p:cNvSpPr/>
          <p:nvPr/>
        </p:nvSpPr>
        <p:spPr>
          <a:xfrm>
            <a:off x="6665976" y="1719072"/>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02</a:t>
            </a:r>
            <a:endParaRPr lang="en-US" sz="1100" dirty="0"/>
          </a:p>
        </p:txBody>
      </p:sp>
      <p:sp>
        <p:nvSpPr>
          <p:cNvPr id="12" name="Text 8"/>
          <p:cNvSpPr/>
          <p:nvPr/>
        </p:nvSpPr>
        <p:spPr>
          <a:xfrm>
            <a:off x="6263640" y="2157984"/>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LLM Reasoning &amp; Eligibility Matching</a:t>
            </a:r>
            <a:endParaRPr lang="en-US" sz="1400" dirty="0"/>
          </a:p>
        </p:txBody>
      </p:sp>
      <p:sp>
        <p:nvSpPr>
          <p:cNvPr id="13" name="Text 9"/>
          <p:cNvSpPr/>
          <p:nvPr/>
        </p:nvSpPr>
        <p:spPr>
          <a:xfrm>
            <a:off x="6263640" y="2523744"/>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Matches the user's spoken profile against scheme rules</a:t>
            </a:r>
            <a:endParaRPr lang="en-US" sz="1500" dirty="0"/>
          </a:p>
        </p:txBody>
      </p:sp>
      <p:sp>
        <p:nvSpPr>
          <p:cNvPr id="14" name="Shape 10"/>
          <p:cNvSpPr/>
          <p:nvPr/>
        </p:nvSpPr>
        <p:spPr>
          <a:xfrm>
            <a:off x="6263640" y="3054096"/>
            <a:ext cx="5257800" cy="0"/>
          </a:xfrm>
          <a:prstGeom prst="line">
            <a:avLst/>
          </a:prstGeom>
          <a:noFill/>
          <a:ln w="9525">
            <a:solidFill>
              <a:srgbClr val="DAD9D3"/>
            </a:solidFill>
            <a:prstDash val="solid"/>
          </a:ln>
        </p:spPr>
      </p:sp>
      <p:pic>
        <p:nvPicPr>
          <p:cNvPr id="15" name="Image 2" descr="preencoded.png"/>
          <p:cNvPicPr>
            <a:picLocks noChangeAspect="1"/>
          </p:cNvPicPr>
          <p:nvPr/>
        </p:nvPicPr>
        <p:blipFill>
          <a:blip r:embed="rId5"/>
          <a:stretch>
            <a:fillRect/>
          </a:stretch>
        </p:blipFill>
        <p:spPr>
          <a:xfrm>
            <a:off x="640080" y="3273552"/>
            <a:ext cx="310896" cy="310896"/>
          </a:xfrm>
          <a:prstGeom prst="rect">
            <a:avLst/>
          </a:prstGeom>
        </p:spPr>
      </p:pic>
      <p:sp>
        <p:nvSpPr>
          <p:cNvPr id="16" name="Text 11"/>
          <p:cNvSpPr/>
          <p:nvPr/>
        </p:nvSpPr>
        <p:spPr>
          <a:xfrm>
            <a:off x="1042416" y="3200400"/>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03</a:t>
            </a:r>
            <a:endParaRPr lang="en-US" sz="1100" dirty="0"/>
          </a:p>
        </p:txBody>
      </p:sp>
      <p:sp>
        <p:nvSpPr>
          <p:cNvPr id="17" name="Text 12"/>
          <p:cNvSpPr/>
          <p:nvPr/>
        </p:nvSpPr>
        <p:spPr>
          <a:xfrm>
            <a:off x="640080" y="3639312"/>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Document OCR &amp; Auto-Verification</a:t>
            </a:r>
            <a:endParaRPr lang="en-US" sz="1400" dirty="0"/>
          </a:p>
        </p:txBody>
      </p:sp>
      <p:sp>
        <p:nvSpPr>
          <p:cNvPr id="18" name="Text 13"/>
          <p:cNvSpPr/>
          <p:nvPr/>
        </p:nvSpPr>
        <p:spPr>
          <a:xfrm>
            <a:off x="640080" y="4005072"/>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Scans ration cards / ID proofs to auto-check eligibility</a:t>
            </a:r>
            <a:endParaRPr lang="en-US" sz="1500" dirty="0"/>
          </a:p>
        </p:txBody>
      </p:sp>
      <p:sp>
        <p:nvSpPr>
          <p:cNvPr id="19" name="Shape 14"/>
          <p:cNvSpPr/>
          <p:nvPr/>
        </p:nvSpPr>
        <p:spPr>
          <a:xfrm>
            <a:off x="640080" y="4535424"/>
            <a:ext cx="5257800" cy="0"/>
          </a:xfrm>
          <a:prstGeom prst="line">
            <a:avLst/>
          </a:prstGeom>
          <a:noFill/>
          <a:ln w="9525">
            <a:solidFill>
              <a:srgbClr val="DAD9D3"/>
            </a:solidFill>
            <a:prstDash val="solid"/>
          </a:ln>
        </p:spPr>
      </p:sp>
      <p:pic>
        <p:nvPicPr>
          <p:cNvPr id="20" name="Image 3" descr="preencoded.png"/>
          <p:cNvPicPr>
            <a:picLocks noChangeAspect="1"/>
          </p:cNvPicPr>
          <p:nvPr/>
        </p:nvPicPr>
        <p:blipFill>
          <a:blip r:embed="rId6"/>
          <a:stretch>
            <a:fillRect/>
          </a:stretch>
        </p:blipFill>
        <p:spPr>
          <a:xfrm>
            <a:off x="6263640" y="3273552"/>
            <a:ext cx="310896" cy="310896"/>
          </a:xfrm>
          <a:prstGeom prst="rect">
            <a:avLst/>
          </a:prstGeom>
        </p:spPr>
      </p:pic>
      <p:sp>
        <p:nvSpPr>
          <p:cNvPr id="21" name="Text 15"/>
          <p:cNvSpPr/>
          <p:nvPr/>
        </p:nvSpPr>
        <p:spPr>
          <a:xfrm>
            <a:off x="6665976" y="3200400"/>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04</a:t>
            </a:r>
            <a:endParaRPr lang="en-US" sz="1100" dirty="0"/>
          </a:p>
        </p:txBody>
      </p:sp>
      <p:sp>
        <p:nvSpPr>
          <p:cNvPr id="22" name="Text 16"/>
          <p:cNvSpPr/>
          <p:nvPr/>
        </p:nvSpPr>
        <p:spPr>
          <a:xfrm>
            <a:off x="6263640" y="3639312"/>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Government Scheme Database</a:t>
            </a:r>
            <a:endParaRPr lang="en-US" sz="1400" dirty="0"/>
          </a:p>
        </p:txBody>
      </p:sp>
      <p:sp>
        <p:nvSpPr>
          <p:cNvPr id="23" name="Text 17"/>
          <p:cNvSpPr/>
          <p:nvPr/>
        </p:nvSpPr>
        <p:spPr>
          <a:xfrm>
            <a:off x="6263640" y="4005072"/>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Curated repository of pension, subsidy, health &amp; education schemes</a:t>
            </a:r>
            <a:endParaRPr lang="en-US" sz="1500" dirty="0"/>
          </a:p>
        </p:txBody>
      </p:sp>
      <p:sp>
        <p:nvSpPr>
          <p:cNvPr id="24" name="Shape 18"/>
          <p:cNvSpPr/>
          <p:nvPr/>
        </p:nvSpPr>
        <p:spPr>
          <a:xfrm>
            <a:off x="6263640" y="4535424"/>
            <a:ext cx="5257800" cy="0"/>
          </a:xfrm>
          <a:prstGeom prst="line">
            <a:avLst/>
          </a:prstGeom>
          <a:noFill/>
          <a:ln w="9525">
            <a:solidFill>
              <a:srgbClr val="DAD9D3"/>
            </a:solidFill>
            <a:prstDash val="solid"/>
          </a:ln>
        </p:spPr>
      </p:sp>
      <p:pic>
        <p:nvPicPr>
          <p:cNvPr id="25" name="Image 4" descr="preencoded.png"/>
          <p:cNvPicPr>
            <a:picLocks noChangeAspect="1"/>
          </p:cNvPicPr>
          <p:nvPr/>
        </p:nvPicPr>
        <p:blipFill>
          <a:blip r:embed="rId7"/>
          <a:stretch>
            <a:fillRect/>
          </a:stretch>
        </p:blipFill>
        <p:spPr>
          <a:xfrm>
            <a:off x="640080" y="4754880"/>
            <a:ext cx="310896" cy="310896"/>
          </a:xfrm>
          <a:prstGeom prst="rect">
            <a:avLst/>
          </a:prstGeom>
        </p:spPr>
      </p:pic>
      <p:sp>
        <p:nvSpPr>
          <p:cNvPr id="26" name="Text 19"/>
          <p:cNvSpPr/>
          <p:nvPr/>
        </p:nvSpPr>
        <p:spPr>
          <a:xfrm>
            <a:off x="1042416" y="4681728"/>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05</a:t>
            </a:r>
            <a:endParaRPr lang="en-US" sz="1100" dirty="0"/>
          </a:p>
        </p:txBody>
      </p:sp>
      <p:sp>
        <p:nvSpPr>
          <p:cNvPr id="27" name="Text 20"/>
          <p:cNvSpPr/>
          <p:nvPr/>
        </p:nvSpPr>
        <p:spPr>
          <a:xfrm>
            <a:off x="640080" y="5120640"/>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Multilingual Voice Response</a:t>
            </a:r>
            <a:endParaRPr lang="en-US" sz="1400" dirty="0"/>
          </a:p>
        </p:txBody>
      </p:sp>
      <p:sp>
        <p:nvSpPr>
          <p:cNvPr id="28" name="Text 21"/>
          <p:cNvSpPr/>
          <p:nvPr/>
        </p:nvSpPr>
        <p:spPr>
          <a:xfrm>
            <a:off x="640080" y="5486400"/>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Explains eligibility and required documents in spoken language</a:t>
            </a:r>
            <a:endParaRPr lang="en-US" sz="1500" dirty="0"/>
          </a:p>
        </p:txBody>
      </p:sp>
      <p:pic>
        <p:nvPicPr>
          <p:cNvPr id="29" name="Image 5" descr="preencoded.png"/>
          <p:cNvPicPr>
            <a:picLocks noChangeAspect="1"/>
          </p:cNvPicPr>
          <p:nvPr/>
        </p:nvPicPr>
        <p:blipFill>
          <a:blip r:embed="rId8"/>
          <a:stretch>
            <a:fillRect/>
          </a:stretch>
        </p:blipFill>
        <p:spPr>
          <a:xfrm>
            <a:off x="6263640" y="4754880"/>
            <a:ext cx="310896" cy="310896"/>
          </a:xfrm>
          <a:prstGeom prst="rect">
            <a:avLst/>
          </a:prstGeom>
        </p:spPr>
      </p:pic>
      <p:sp>
        <p:nvSpPr>
          <p:cNvPr id="30" name="Text 22"/>
          <p:cNvSpPr/>
          <p:nvPr/>
        </p:nvSpPr>
        <p:spPr>
          <a:xfrm>
            <a:off x="6665976" y="4681728"/>
            <a:ext cx="548640" cy="320040"/>
          </a:xfrm>
          <a:prstGeom prst="rect">
            <a:avLst/>
          </a:prstGeom>
          <a:noFill/>
          <a:ln/>
        </p:spPr>
        <p:txBody>
          <a:bodyPr wrap="square" rtlCol="0" anchor="ctr"/>
          <a:lstStyle/>
          <a:p>
            <a:pPr marL="0" indent="0">
              <a:buNone/>
            </a:pPr>
            <a:r>
              <a:rPr lang="en-US" sz="1100" b="1" dirty="0">
                <a:solidFill>
                  <a:srgbClr val="8A6D3F"/>
                </a:solidFill>
                <a:latin typeface="Cambria" pitchFamily="34" charset="0"/>
                <a:ea typeface="Cambria" pitchFamily="34" charset="-122"/>
                <a:cs typeface="Cambria" pitchFamily="34" charset="-120"/>
              </a:rPr>
              <a:t>06</a:t>
            </a:r>
            <a:endParaRPr lang="en-US" sz="1100" dirty="0"/>
          </a:p>
        </p:txBody>
      </p:sp>
      <p:sp>
        <p:nvSpPr>
          <p:cNvPr id="31" name="Text 23"/>
          <p:cNvSpPr/>
          <p:nvPr/>
        </p:nvSpPr>
        <p:spPr>
          <a:xfrm>
            <a:off x="6263640" y="5120640"/>
            <a:ext cx="5257800" cy="365760"/>
          </a:xfrm>
          <a:prstGeom prst="rect">
            <a:avLst/>
          </a:prstGeom>
          <a:noFill/>
          <a:ln/>
        </p:spPr>
        <p:txBody>
          <a:bodyPr wrap="square" rtlCol="0" anchor="t"/>
          <a:lstStyle/>
          <a:p>
            <a:pPr marL="0" indent="0">
              <a:buNone/>
            </a:pPr>
            <a:r>
              <a:rPr lang="en-US" sz="1400" b="1" dirty="0">
                <a:solidFill>
                  <a:srgbClr val="242422"/>
                </a:solidFill>
                <a:latin typeface="Calibri" pitchFamily="34" charset="0"/>
                <a:ea typeface="Calibri" pitchFamily="34" charset="-122"/>
                <a:cs typeface="Calibri" pitchFamily="34" charset="-120"/>
              </a:rPr>
              <a:t>Accessible Flutter Front-End</a:t>
            </a:r>
            <a:endParaRPr lang="en-US" sz="1400" dirty="0"/>
          </a:p>
        </p:txBody>
      </p:sp>
      <p:sp>
        <p:nvSpPr>
          <p:cNvPr id="32" name="Text 24"/>
          <p:cNvSpPr/>
          <p:nvPr/>
        </p:nvSpPr>
        <p:spPr>
          <a:xfrm>
            <a:off x="6263640" y="5486400"/>
            <a:ext cx="5257800" cy="594360"/>
          </a:xfrm>
          <a:prstGeom prst="rect">
            <a:avLst/>
          </a:prstGeom>
          <a:noFill/>
          <a:ln/>
        </p:spPr>
        <p:txBody>
          <a:bodyPr wrap="square" rtlCol="0" anchor="t"/>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Simple, voice-first UI designed for low literacy &amp; low digital skill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1828800" cy="32004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2.3</a:t>
            </a:r>
            <a:endParaRPr lang="en-US" sz="1300" dirty="0"/>
          </a:p>
        </p:txBody>
      </p:sp>
      <p:sp>
        <p:nvSpPr>
          <p:cNvPr id="3" name="Text 1"/>
          <p:cNvSpPr/>
          <p:nvPr/>
        </p:nvSpPr>
        <p:spPr>
          <a:xfrm>
            <a:off x="640080" y="822960"/>
            <a:ext cx="10058400" cy="594360"/>
          </a:xfrm>
          <a:prstGeom prst="rect">
            <a:avLst/>
          </a:prstGeom>
          <a:noFill/>
          <a:ln/>
        </p:spPr>
        <p:txBody>
          <a:bodyPr wrap="square" rtlCol="0" anchor="ctr"/>
          <a:lstStyle/>
          <a:p>
            <a:pPr marL="0" indent="0">
              <a:buNone/>
            </a:pPr>
            <a:r>
              <a:rPr lang="en-US" sz="2500" b="1" dirty="0">
                <a:solidFill>
                  <a:srgbClr val="242422"/>
                </a:solidFill>
                <a:latin typeface="Cambria" pitchFamily="34" charset="0"/>
                <a:ea typeface="Cambria" pitchFamily="34" charset="-122"/>
                <a:cs typeface="Cambria" pitchFamily="34" charset="-120"/>
              </a:rPr>
              <a:t>AI Scheme Navigator — Tech Stack</a:t>
            </a:r>
            <a:endParaRPr lang="en-US" sz="2500" dirty="0"/>
          </a:p>
        </p:txBody>
      </p:sp>
      <p:sp>
        <p:nvSpPr>
          <p:cNvPr id="4" name="Shape 2"/>
          <p:cNvSpPr/>
          <p:nvPr/>
        </p:nvSpPr>
        <p:spPr>
          <a:xfrm>
            <a:off x="640080" y="1508760"/>
            <a:ext cx="10881360" cy="0"/>
          </a:xfrm>
          <a:prstGeom prst="line">
            <a:avLst/>
          </a:prstGeom>
          <a:noFill/>
          <a:ln w="12700">
            <a:solidFill>
              <a:srgbClr val="DAD9D3"/>
            </a:solidFill>
            <a:prstDash val="solid"/>
          </a:ln>
        </p:spPr>
      </p:sp>
      <p:pic>
        <p:nvPicPr>
          <p:cNvPr id="5" name="Image 0" descr="preencoded.png"/>
          <p:cNvPicPr>
            <a:picLocks noChangeAspect="1"/>
          </p:cNvPicPr>
          <p:nvPr/>
        </p:nvPicPr>
        <p:blipFill>
          <a:blip r:embed="rId3"/>
          <a:stretch>
            <a:fillRect/>
          </a:stretch>
        </p:blipFill>
        <p:spPr>
          <a:xfrm>
            <a:off x="640080" y="1865376"/>
            <a:ext cx="310896" cy="310896"/>
          </a:xfrm>
          <a:prstGeom prst="rect">
            <a:avLst/>
          </a:prstGeom>
        </p:spPr>
      </p:pic>
      <p:sp>
        <p:nvSpPr>
          <p:cNvPr id="6" name="Text 3"/>
          <p:cNvSpPr/>
          <p:nvPr/>
        </p:nvSpPr>
        <p:spPr>
          <a:xfrm>
            <a:off x="1143000" y="173736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FRONTEND</a:t>
            </a:r>
            <a:endParaRPr lang="en-US" sz="1500" dirty="0"/>
          </a:p>
        </p:txBody>
      </p:sp>
      <p:sp>
        <p:nvSpPr>
          <p:cNvPr id="7" name="Text 4"/>
          <p:cNvSpPr/>
          <p:nvPr/>
        </p:nvSpPr>
        <p:spPr>
          <a:xfrm>
            <a:off x="3520440" y="173736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Flutter</a:t>
            </a:r>
            <a:endParaRPr lang="en-US" sz="1500" dirty="0"/>
          </a:p>
        </p:txBody>
      </p:sp>
      <p:sp>
        <p:nvSpPr>
          <p:cNvPr id="8" name="Text 5"/>
          <p:cNvSpPr/>
          <p:nvPr/>
        </p:nvSpPr>
        <p:spPr>
          <a:xfrm>
            <a:off x="6903720" y="173736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Multilingual, voice-first mobile UI</a:t>
            </a:r>
            <a:endParaRPr lang="en-US" sz="1500" dirty="0"/>
          </a:p>
        </p:txBody>
      </p:sp>
      <p:sp>
        <p:nvSpPr>
          <p:cNvPr id="9" name="Shape 6"/>
          <p:cNvSpPr/>
          <p:nvPr/>
        </p:nvSpPr>
        <p:spPr>
          <a:xfrm>
            <a:off x="640080" y="2441448"/>
            <a:ext cx="10881360" cy="0"/>
          </a:xfrm>
          <a:prstGeom prst="line">
            <a:avLst/>
          </a:prstGeom>
          <a:noFill/>
          <a:ln w="9525">
            <a:solidFill>
              <a:srgbClr val="DAD9D3"/>
            </a:solidFill>
            <a:prstDash val="solid"/>
          </a:ln>
        </p:spPr>
      </p:sp>
      <p:pic>
        <p:nvPicPr>
          <p:cNvPr id="10" name="Image 1" descr="preencoded.png"/>
          <p:cNvPicPr>
            <a:picLocks noChangeAspect="1"/>
          </p:cNvPicPr>
          <p:nvPr/>
        </p:nvPicPr>
        <p:blipFill>
          <a:blip r:embed="rId4"/>
          <a:stretch>
            <a:fillRect/>
          </a:stretch>
        </p:blipFill>
        <p:spPr>
          <a:xfrm>
            <a:off x="640080" y="2642616"/>
            <a:ext cx="310896" cy="310896"/>
          </a:xfrm>
          <a:prstGeom prst="rect">
            <a:avLst/>
          </a:prstGeom>
        </p:spPr>
      </p:pic>
      <p:sp>
        <p:nvSpPr>
          <p:cNvPr id="11" name="Text 7"/>
          <p:cNvSpPr/>
          <p:nvPr/>
        </p:nvSpPr>
        <p:spPr>
          <a:xfrm>
            <a:off x="1143000" y="251460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BACKEND</a:t>
            </a:r>
            <a:endParaRPr lang="en-US" sz="1500" dirty="0"/>
          </a:p>
        </p:txBody>
      </p:sp>
      <p:sp>
        <p:nvSpPr>
          <p:cNvPr id="12" name="Text 8"/>
          <p:cNvSpPr/>
          <p:nvPr/>
        </p:nvSpPr>
        <p:spPr>
          <a:xfrm>
            <a:off x="3520440" y="251460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Node.js + Express</a:t>
            </a:r>
            <a:endParaRPr lang="en-US" sz="1500" dirty="0"/>
          </a:p>
        </p:txBody>
      </p:sp>
      <p:sp>
        <p:nvSpPr>
          <p:cNvPr id="13" name="Text 9"/>
          <p:cNvSpPr/>
          <p:nvPr/>
        </p:nvSpPr>
        <p:spPr>
          <a:xfrm>
            <a:off x="6903720" y="251460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REST APIs and orchestration between speech, LLM and OCR services</a:t>
            </a:r>
            <a:endParaRPr lang="en-US" sz="1500" dirty="0"/>
          </a:p>
        </p:txBody>
      </p:sp>
      <p:sp>
        <p:nvSpPr>
          <p:cNvPr id="14" name="Shape 10"/>
          <p:cNvSpPr/>
          <p:nvPr/>
        </p:nvSpPr>
        <p:spPr>
          <a:xfrm>
            <a:off x="640080" y="3218688"/>
            <a:ext cx="10881360" cy="0"/>
          </a:xfrm>
          <a:prstGeom prst="line">
            <a:avLst/>
          </a:prstGeom>
          <a:noFill/>
          <a:ln w="9525">
            <a:solidFill>
              <a:srgbClr val="DAD9D3"/>
            </a:solidFill>
            <a:prstDash val="solid"/>
          </a:ln>
        </p:spPr>
      </p:sp>
      <p:pic>
        <p:nvPicPr>
          <p:cNvPr id="15" name="Image 2" descr="preencoded.png"/>
          <p:cNvPicPr>
            <a:picLocks noChangeAspect="1"/>
          </p:cNvPicPr>
          <p:nvPr/>
        </p:nvPicPr>
        <p:blipFill>
          <a:blip r:embed="rId5"/>
          <a:stretch>
            <a:fillRect/>
          </a:stretch>
        </p:blipFill>
        <p:spPr>
          <a:xfrm>
            <a:off x="640080" y="3419856"/>
            <a:ext cx="310896" cy="310896"/>
          </a:xfrm>
          <a:prstGeom prst="rect">
            <a:avLst/>
          </a:prstGeom>
        </p:spPr>
      </p:pic>
      <p:sp>
        <p:nvSpPr>
          <p:cNvPr id="16" name="Text 11"/>
          <p:cNvSpPr/>
          <p:nvPr/>
        </p:nvSpPr>
        <p:spPr>
          <a:xfrm>
            <a:off x="1143000" y="329184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DATABASE</a:t>
            </a:r>
            <a:endParaRPr lang="en-US" sz="1500" dirty="0"/>
          </a:p>
        </p:txBody>
      </p:sp>
      <p:sp>
        <p:nvSpPr>
          <p:cNvPr id="17" name="Text 12"/>
          <p:cNvSpPr/>
          <p:nvPr/>
        </p:nvSpPr>
        <p:spPr>
          <a:xfrm>
            <a:off x="3520440" y="329184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MongoDB</a:t>
            </a:r>
            <a:endParaRPr lang="en-US" sz="1500" dirty="0"/>
          </a:p>
        </p:txBody>
      </p:sp>
      <p:sp>
        <p:nvSpPr>
          <p:cNvPr id="18" name="Text 13"/>
          <p:cNvSpPr/>
          <p:nvPr/>
        </p:nvSpPr>
        <p:spPr>
          <a:xfrm>
            <a:off x="6903720" y="329184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Stores the scheme database, user sessions and match history</a:t>
            </a:r>
            <a:endParaRPr lang="en-US" sz="1500" dirty="0"/>
          </a:p>
        </p:txBody>
      </p:sp>
      <p:sp>
        <p:nvSpPr>
          <p:cNvPr id="19" name="Shape 14"/>
          <p:cNvSpPr/>
          <p:nvPr/>
        </p:nvSpPr>
        <p:spPr>
          <a:xfrm>
            <a:off x="640080" y="3995928"/>
            <a:ext cx="10881360" cy="0"/>
          </a:xfrm>
          <a:prstGeom prst="line">
            <a:avLst/>
          </a:prstGeom>
          <a:noFill/>
          <a:ln w="9525">
            <a:solidFill>
              <a:srgbClr val="DAD9D3"/>
            </a:solidFill>
            <a:prstDash val="solid"/>
          </a:ln>
        </p:spPr>
      </p:sp>
      <p:pic>
        <p:nvPicPr>
          <p:cNvPr id="20" name="Image 3" descr="preencoded.png"/>
          <p:cNvPicPr>
            <a:picLocks noChangeAspect="1"/>
          </p:cNvPicPr>
          <p:nvPr/>
        </p:nvPicPr>
        <p:blipFill>
          <a:blip r:embed="rId6"/>
          <a:stretch>
            <a:fillRect/>
          </a:stretch>
        </p:blipFill>
        <p:spPr>
          <a:xfrm>
            <a:off x="640080" y="4197096"/>
            <a:ext cx="310896" cy="310896"/>
          </a:xfrm>
          <a:prstGeom prst="rect">
            <a:avLst/>
          </a:prstGeom>
        </p:spPr>
      </p:pic>
      <p:sp>
        <p:nvSpPr>
          <p:cNvPr id="21" name="Text 15"/>
          <p:cNvSpPr/>
          <p:nvPr/>
        </p:nvSpPr>
        <p:spPr>
          <a:xfrm>
            <a:off x="1143000" y="406908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SPEECH &amp; LANGUAGE</a:t>
            </a:r>
            <a:endParaRPr lang="en-US" sz="1500" dirty="0"/>
          </a:p>
        </p:txBody>
      </p:sp>
      <p:sp>
        <p:nvSpPr>
          <p:cNvPr id="22" name="Text 16"/>
          <p:cNvSpPr/>
          <p:nvPr/>
        </p:nvSpPr>
        <p:spPr>
          <a:xfrm>
            <a:off x="3520440" y="406908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Speech-to-Text + Text-to-Speech API</a:t>
            </a:r>
            <a:endParaRPr lang="en-US" sz="1500" dirty="0"/>
          </a:p>
        </p:txBody>
      </p:sp>
      <p:sp>
        <p:nvSpPr>
          <p:cNvPr id="23" name="Text 17"/>
          <p:cNvSpPr/>
          <p:nvPr/>
        </p:nvSpPr>
        <p:spPr>
          <a:xfrm>
            <a:off x="6903720" y="406908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Converts spoken input to text and reads results back aloud</a:t>
            </a:r>
            <a:endParaRPr lang="en-US" sz="1500" dirty="0"/>
          </a:p>
        </p:txBody>
      </p:sp>
      <p:sp>
        <p:nvSpPr>
          <p:cNvPr id="24" name="Shape 18"/>
          <p:cNvSpPr/>
          <p:nvPr/>
        </p:nvSpPr>
        <p:spPr>
          <a:xfrm>
            <a:off x="640080" y="4773168"/>
            <a:ext cx="10881360" cy="0"/>
          </a:xfrm>
          <a:prstGeom prst="line">
            <a:avLst/>
          </a:prstGeom>
          <a:noFill/>
          <a:ln w="9525">
            <a:solidFill>
              <a:srgbClr val="DAD9D3"/>
            </a:solidFill>
            <a:prstDash val="solid"/>
          </a:ln>
        </p:spPr>
      </p:sp>
      <p:pic>
        <p:nvPicPr>
          <p:cNvPr id="25" name="Image 4" descr="preencoded.png"/>
          <p:cNvPicPr>
            <a:picLocks noChangeAspect="1"/>
          </p:cNvPicPr>
          <p:nvPr/>
        </p:nvPicPr>
        <p:blipFill>
          <a:blip r:embed="rId7"/>
          <a:stretch>
            <a:fillRect/>
          </a:stretch>
        </p:blipFill>
        <p:spPr>
          <a:xfrm>
            <a:off x="640080" y="4974336"/>
            <a:ext cx="310896" cy="310896"/>
          </a:xfrm>
          <a:prstGeom prst="rect">
            <a:avLst/>
          </a:prstGeom>
        </p:spPr>
      </p:pic>
      <p:sp>
        <p:nvSpPr>
          <p:cNvPr id="26" name="Text 19"/>
          <p:cNvSpPr/>
          <p:nvPr/>
        </p:nvSpPr>
        <p:spPr>
          <a:xfrm>
            <a:off x="1143000" y="484632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AI REASONING</a:t>
            </a:r>
            <a:endParaRPr lang="en-US" sz="1500" dirty="0"/>
          </a:p>
        </p:txBody>
      </p:sp>
      <p:sp>
        <p:nvSpPr>
          <p:cNvPr id="27" name="Text 20"/>
          <p:cNvSpPr/>
          <p:nvPr/>
        </p:nvSpPr>
        <p:spPr>
          <a:xfrm>
            <a:off x="3520440" y="484632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LLM API (GPT-based)</a:t>
            </a:r>
            <a:endParaRPr lang="en-US" sz="1500" dirty="0"/>
          </a:p>
        </p:txBody>
      </p:sp>
      <p:sp>
        <p:nvSpPr>
          <p:cNvPr id="28" name="Text 21"/>
          <p:cNvSpPr/>
          <p:nvPr/>
        </p:nvSpPr>
        <p:spPr>
          <a:xfrm>
            <a:off x="6903720" y="484632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Matches the user's spoken profile against scheme eligibility rules</a:t>
            </a:r>
            <a:endParaRPr lang="en-US" sz="1500" dirty="0"/>
          </a:p>
        </p:txBody>
      </p:sp>
      <p:sp>
        <p:nvSpPr>
          <p:cNvPr id="29" name="Shape 22"/>
          <p:cNvSpPr/>
          <p:nvPr/>
        </p:nvSpPr>
        <p:spPr>
          <a:xfrm>
            <a:off x="640080" y="5550408"/>
            <a:ext cx="10881360" cy="0"/>
          </a:xfrm>
          <a:prstGeom prst="line">
            <a:avLst/>
          </a:prstGeom>
          <a:noFill/>
          <a:ln w="9525">
            <a:solidFill>
              <a:srgbClr val="DAD9D3"/>
            </a:solidFill>
            <a:prstDash val="solid"/>
          </a:ln>
        </p:spPr>
      </p:sp>
      <p:pic>
        <p:nvPicPr>
          <p:cNvPr id="30" name="Image 5" descr="preencoded.png"/>
          <p:cNvPicPr>
            <a:picLocks noChangeAspect="1"/>
          </p:cNvPicPr>
          <p:nvPr/>
        </p:nvPicPr>
        <p:blipFill>
          <a:blip r:embed="rId8"/>
          <a:stretch>
            <a:fillRect/>
          </a:stretch>
        </p:blipFill>
        <p:spPr>
          <a:xfrm>
            <a:off x="640080" y="5751576"/>
            <a:ext cx="310896" cy="310896"/>
          </a:xfrm>
          <a:prstGeom prst="rect">
            <a:avLst/>
          </a:prstGeom>
        </p:spPr>
      </p:pic>
      <p:sp>
        <p:nvSpPr>
          <p:cNvPr id="31" name="Text 23"/>
          <p:cNvSpPr/>
          <p:nvPr/>
        </p:nvSpPr>
        <p:spPr>
          <a:xfrm>
            <a:off x="1143000" y="5623560"/>
            <a:ext cx="2286000" cy="548640"/>
          </a:xfrm>
          <a:prstGeom prst="rect">
            <a:avLst/>
          </a:prstGeom>
          <a:noFill/>
          <a:ln/>
        </p:spPr>
        <p:txBody>
          <a:bodyPr wrap="square" rtlCol="0" anchor="ctr"/>
          <a:lstStyle/>
          <a:p>
            <a:pPr marL="0" indent="0">
              <a:buNone/>
            </a:pPr>
            <a:r>
              <a:rPr lang="en-US" sz="1500" b="1" kern="0" spc="100" dirty="0">
                <a:solidFill>
                  <a:srgbClr val="6E6E6B"/>
                </a:solidFill>
                <a:latin typeface="Calibri" pitchFamily="34" charset="0"/>
                <a:ea typeface="Calibri" pitchFamily="34" charset="-122"/>
                <a:cs typeface="Calibri" pitchFamily="34" charset="-120"/>
              </a:rPr>
              <a:t>DOCUMENT VERIFICATION</a:t>
            </a:r>
            <a:endParaRPr lang="en-US" sz="1500" dirty="0"/>
          </a:p>
        </p:txBody>
      </p:sp>
      <p:sp>
        <p:nvSpPr>
          <p:cNvPr id="32" name="Text 24"/>
          <p:cNvSpPr/>
          <p:nvPr/>
        </p:nvSpPr>
        <p:spPr>
          <a:xfrm>
            <a:off x="3520440" y="5623560"/>
            <a:ext cx="3246120" cy="548640"/>
          </a:xfrm>
          <a:prstGeom prst="rect">
            <a:avLst/>
          </a:prstGeom>
          <a:noFill/>
          <a:ln/>
        </p:spPr>
        <p:txBody>
          <a:bodyPr wrap="square" rtlCol="0" anchor="ctr"/>
          <a:lstStyle/>
          <a:p>
            <a:pPr marL="0" indent="0">
              <a:buNone/>
            </a:pPr>
            <a:r>
              <a:rPr lang="en-US" sz="1500" b="1" dirty="0">
                <a:solidFill>
                  <a:srgbClr val="242422"/>
                </a:solidFill>
                <a:latin typeface="Cambria" pitchFamily="34" charset="0"/>
                <a:ea typeface="Cambria" pitchFamily="34" charset="-122"/>
                <a:cs typeface="Cambria" pitchFamily="34" charset="-120"/>
              </a:rPr>
              <a:t>OCR (Google Vision / Tesseract)</a:t>
            </a:r>
            <a:endParaRPr lang="en-US" sz="1500" dirty="0"/>
          </a:p>
        </p:txBody>
      </p:sp>
      <p:sp>
        <p:nvSpPr>
          <p:cNvPr id="33" name="Text 25"/>
          <p:cNvSpPr/>
          <p:nvPr/>
        </p:nvSpPr>
        <p:spPr>
          <a:xfrm>
            <a:off x="6903720" y="5623560"/>
            <a:ext cx="4617720" cy="548640"/>
          </a:xfrm>
          <a:prstGeom prst="rect">
            <a:avLst/>
          </a:prstGeom>
          <a:noFill/>
          <a:ln/>
        </p:spPr>
        <p:txBody>
          <a:bodyPr wrap="square" rtlCol="0" anchor="ctr"/>
          <a:lstStyle/>
          <a:p>
            <a:pPr marL="0" indent="0">
              <a:lnSpc>
                <a:spcPct val="115000"/>
              </a:lnSpc>
              <a:buNone/>
            </a:pPr>
            <a:r>
              <a:rPr lang="en-US" sz="1500" dirty="0">
                <a:solidFill>
                  <a:srgbClr val="6E6E6B"/>
                </a:solidFill>
                <a:latin typeface="Calibri" pitchFamily="34" charset="0"/>
                <a:ea typeface="Calibri" pitchFamily="34" charset="-122"/>
                <a:cs typeface="Calibri" pitchFamily="34" charset="-120"/>
              </a:rPr>
              <a:t>Extracts data from ration cards &amp; ID proofs to auto-check eligibility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640080"/>
            <a:ext cx="1828800" cy="365760"/>
          </a:xfrm>
          <a:prstGeom prst="rect">
            <a:avLst/>
          </a:prstGeom>
          <a:noFill/>
          <a:ln/>
        </p:spPr>
        <p:txBody>
          <a:bodyPr wrap="square" rtlCol="0" anchor="ctr"/>
          <a:lstStyle/>
          <a:p>
            <a:pPr marL="0" indent="0">
              <a:buNone/>
            </a:pPr>
            <a:r>
              <a:rPr lang="en-US" sz="1300" b="1" dirty="0">
                <a:solidFill>
                  <a:srgbClr val="8A6D3F"/>
                </a:solidFill>
                <a:latin typeface="Cambria" pitchFamily="34" charset="0"/>
                <a:ea typeface="Cambria" pitchFamily="34" charset="-122"/>
                <a:cs typeface="Cambria" pitchFamily="34" charset="-120"/>
              </a:rPr>
              <a:t>3.0</a:t>
            </a:r>
            <a:endParaRPr lang="en-US" sz="1300" dirty="0"/>
          </a:p>
        </p:txBody>
      </p:sp>
      <p:sp>
        <p:nvSpPr>
          <p:cNvPr id="3" name="Text 1"/>
          <p:cNvSpPr/>
          <p:nvPr/>
        </p:nvSpPr>
        <p:spPr>
          <a:xfrm>
            <a:off x="640080" y="960120"/>
            <a:ext cx="9144000" cy="594360"/>
          </a:xfrm>
          <a:prstGeom prst="rect">
            <a:avLst/>
          </a:prstGeom>
          <a:noFill/>
          <a:ln/>
        </p:spPr>
        <p:txBody>
          <a:bodyPr wrap="square" rtlCol="0" anchor="ctr"/>
          <a:lstStyle/>
          <a:p>
            <a:pPr marL="0" indent="0">
              <a:buNone/>
            </a:pPr>
            <a:r>
              <a:rPr lang="en-US" sz="2800" b="1" dirty="0">
                <a:solidFill>
                  <a:srgbClr val="242422"/>
                </a:solidFill>
                <a:latin typeface="Cambria" pitchFamily="34" charset="0"/>
                <a:ea typeface="Cambria" pitchFamily="34" charset="-122"/>
                <a:cs typeface="Cambria" pitchFamily="34" charset="-120"/>
              </a:rPr>
              <a:t>Over to the Panel</a:t>
            </a:r>
            <a:endParaRPr lang="en-US" sz="2800" dirty="0"/>
          </a:p>
        </p:txBody>
      </p:sp>
      <p:sp>
        <p:nvSpPr>
          <p:cNvPr id="4" name="Shape 2"/>
          <p:cNvSpPr/>
          <p:nvPr/>
        </p:nvSpPr>
        <p:spPr>
          <a:xfrm>
            <a:off x="658368" y="1627632"/>
            <a:ext cx="914400" cy="0"/>
          </a:xfrm>
          <a:prstGeom prst="line">
            <a:avLst/>
          </a:prstGeom>
          <a:noFill/>
          <a:ln w="25400">
            <a:solidFill>
              <a:srgbClr val="8A6D3F"/>
            </a:solidFill>
            <a:prstDash val="solid"/>
          </a:ln>
        </p:spPr>
      </p:sp>
      <p:sp>
        <p:nvSpPr>
          <p:cNvPr id="6" name="Shape 4"/>
          <p:cNvSpPr/>
          <p:nvPr/>
        </p:nvSpPr>
        <p:spPr>
          <a:xfrm>
            <a:off x="640080" y="2788920"/>
            <a:ext cx="10881360" cy="0"/>
          </a:xfrm>
          <a:prstGeom prst="line">
            <a:avLst/>
          </a:prstGeom>
          <a:noFill/>
          <a:ln w="12700">
            <a:solidFill>
              <a:srgbClr val="DAD9D3"/>
            </a:solidFill>
            <a:prstDash val="solid"/>
          </a:ln>
        </p:spPr>
      </p:sp>
      <p:sp>
        <p:nvSpPr>
          <p:cNvPr id="7" name="Text 5"/>
          <p:cNvSpPr/>
          <p:nvPr/>
        </p:nvSpPr>
        <p:spPr>
          <a:xfrm>
            <a:off x="640080" y="2971800"/>
            <a:ext cx="640080" cy="548640"/>
          </a:xfrm>
          <a:prstGeom prst="rect">
            <a:avLst/>
          </a:prstGeom>
          <a:noFill/>
          <a:ln/>
        </p:spPr>
        <p:txBody>
          <a:bodyPr wrap="square" rtlCol="0" anchor="ctr"/>
          <a:lstStyle/>
          <a:p>
            <a:pPr marL="0" indent="0">
              <a:buNone/>
            </a:pPr>
            <a:r>
              <a:rPr lang="en-US" sz="1600" b="1" dirty="0">
                <a:solidFill>
                  <a:srgbClr val="8A6D3F"/>
                </a:solidFill>
                <a:latin typeface="Cambria" pitchFamily="34" charset="0"/>
                <a:ea typeface="Cambria" pitchFamily="34" charset="-122"/>
                <a:cs typeface="Cambria" pitchFamily="34" charset="-120"/>
              </a:rPr>
              <a:t>1.0</a:t>
            </a:r>
            <a:endParaRPr lang="en-US" sz="1600" dirty="0"/>
          </a:p>
        </p:txBody>
      </p:sp>
      <p:sp>
        <p:nvSpPr>
          <p:cNvPr id="8" name="Text 6"/>
          <p:cNvSpPr/>
          <p:nvPr/>
        </p:nvSpPr>
        <p:spPr>
          <a:xfrm>
            <a:off x="1371600" y="2926080"/>
            <a:ext cx="9601200" cy="731520"/>
          </a:xfrm>
          <a:prstGeom prst="rect">
            <a:avLst/>
          </a:prstGeom>
          <a:noFill/>
          <a:ln/>
        </p:spPr>
        <p:txBody>
          <a:bodyPr wrap="square" rtlCol="0" anchor="t"/>
          <a:lstStyle/>
          <a:p>
            <a:pPr marL="0" indent="0">
              <a:buNone/>
            </a:pPr>
            <a:r>
              <a:rPr lang="en-US" sz="1500" b="1" dirty="0">
                <a:solidFill>
                  <a:srgbClr val="242422"/>
                </a:solidFill>
                <a:latin typeface="Calibri" pitchFamily="34" charset="0"/>
                <a:ea typeface="Calibri" pitchFamily="34" charset="-122"/>
                <a:cs typeface="Calibri" pitchFamily="34" charset="-120"/>
              </a:rPr>
              <a:t>Nirbhay(Women Security App)</a:t>
            </a:r>
            <a:endParaRPr lang="en-US" sz="1500" dirty="0"/>
          </a:p>
          <a:p>
            <a:pPr marL="0" indent="0">
              <a:buNone/>
            </a:pPr>
            <a:r>
              <a:rPr lang="en-US" sz="1500" dirty="0">
                <a:solidFill>
                  <a:srgbClr val="6E6E6B"/>
                </a:solidFill>
                <a:latin typeface="Calibri" pitchFamily="34" charset="0"/>
                <a:ea typeface="Calibri" pitchFamily="34" charset="-122"/>
                <a:cs typeface="Calibri" pitchFamily="34" charset="-120"/>
              </a:rPr>
              <a:t>Faster emergency response through instant alerts and shared community safety awareness</a:t>
            </a:r>
            <a:endParaRPr lang="en-US" sz="1500" dirty="0"/>
          </a:p>
        </p:txBody>
      </p:sp>
      <p:sp>
        <p:nvSpPr>
          <p:cNvPr id="9" name="Shape 7"/>
          <p:cNvSpPr/>
          <p:nvPr/>
        </p:nvSpPr>
        <p:spPr>
          <a:xfrm>
            <a:off x="640080" y="3703320"/>
            <a:ext cx="10881360" cy="0"/>
          </a:xfrm>
          <a:prstGeom prst="line">
            <a:avLst/>
          </a:prstGeom>
          <a:noFill/>
          <a:ln w="12700">
            <a:solidFill>
              <a:srgbClr val="DAD9D3"/>
            </a:solidFill>
            <a:prstDash val="solid"/>
          </a:ln>
        </p:spPr>
      </p:sp>
      <p:sp>
        <p:nvSpPr>
          <p:cNvPr id="10" name="Text 8"/>
          <p:cNvSpPr/>
          <p:nvPr/>
        </p:nvSpPr>
        <p:spPr>
          <a:xfrm>
            <a:off x="640080" y="3886200"/>
            <a:ext cx="640080" cy="548640"/>
          </a:xfrm>
          <a:prstGeom prst="rect">
            <a:avLst/>
          </a:prstGeom>
          <a:noFill/>
          <a:ln/>
        </p:spPr>
        <p:txBody>
          <a:bodyPr wrap="square" rtlCol="0" anchor="ctr"/>
          <a:lstStyle/>
          <a:p>
            <a:pPr marL="0" indent="0">
              <a:buNone/>
            </a:pPr>
            <a:r>
              <a:rPr lang="en-US" sz="1600" b="1" dirty="0">
                <a:solidFill>
                  <a:srgbClr val="8A6D3F"/>
                </a:solidFill>
                <a:latin typeface="Cambria" pitchFamily="34" charset="0"/>
                <a:ea typeface="Cambria" pitchFamily="34" charset="-122"/>
                <a:cs typeface="Cambria" pitchFamily="34" charset="-120"/>
              </a:rPr>
              <a:t>2.0</a:t>
            </a:r>
            <a:endParaRPr lang="en-US" sz="1600" dirty="0"/>
          </a:p>
        </p:txBody>
      </p:sp>
      <p:sp>
        <p:nvSpPr>
          <p:cNvPr id="11" name="Text 9"/>
          <p:cNvSpPr/>
          <p:nvPr/>
        </p:nvSpPr>
        <p:spPr>
          <a:xfrm>
            <a:off x="1371600" y="3840480"/>
            <a:ext cx="9601200" cy="731520"/>
          </a:xfrm>
          <a:prstGeom prst="rect">
            <a:avLst/>
          </a:prstGeom>
          <a:noFill/>
          <a:ln/>
        </p:spPr>
        <p:txBody>
          <a:bodyPr wrap="square" rtlCol="0" anchor="t"/>
          <a:lstStyle/>
          <a:p>
            <a:pPr marL="0" indent="0">
              <a:buNone/>
            </a:pPr>
            <a:r>
              <a:rPr lang="en-US" sz="1500" b="1" dirty="0">
                <a:solidFill>
                  <a:srgbClr val="242422"/>
                </a:solidFill>
                <a:latin typeface="Calibri" pitchFamily="34" charset="0"/>
                <a:ea typeface="Calibri" pitchFamily="34" charset="-122"/>
                <a:cs typeface="Calibri" pitchFamily="34" charset="-120"/>
              </a:rPr>
              <a:t>AI Scheme Navigator</a:t>
            </a:r>
            <a:endParaRPr lang="en-US" sz="1500" dirty="0"/>
          </a:p>
          <a:p>
            <a:pPr marL="0" indent="0">
              <a:buNone/>
            </a:pPr>
            <a:r>
              <a:rPr lang="en-US" sz="1500" dirty="0">
                <a:solidFill>
                  <a:srgbClr val="6E6E6B"/>
                </a:solidFill>
                <a:latin typeface="Calibri" pitchFamily="34" charset="0"/>
                <a:ea typeface="Calibri" pitchFamily="34" charset="-122"/>
                <a:cs typeface="Calibri" pitchFamily="34" charset="-120"/>
              </a:rPr>
              <a:t>Wider welfare scheme uptake through voice-first, multilingual access</a:t>
            </a:r>
            <a:endParaRPr lang="en-US" sz="1500" dirty="0"/>
          </a:p>
        </p:txBody>
      </p:sp>
      <p:sp>
        <p:nvSpPr>
          <p:cNvPr id="12" name="Shape 10"/>
          <p:cNvSpPr/>
          <p:nvPr/>
        </p:nvSpPr>
        <p:spPr>
          <a:xfrm>
            <a:off x="640080" y="4617720"/>
            <a:ext cx="10881360" cy="0"/>
          </a:xfrm>
          <a:prstGeom prst="line">
            <a:avLst/>
          </a:prstGeom>
          <a:noFill/>
          <a:ln w="12700">
            <a:solidFill>
              <a:srgbClr val="DAD9D3"/>
            </a:solidFill>
            <a:prstDash val="solid"/>
          </a:ln>
        </p:spPr>
      </p:sp>
      <p:sp>
        <p:nvSpPr>
          <p:cNvPr id="13" name="Text 11"/>
          <p:cNvSpPr/>
          <p:nvPr/>
        </p:nvSpPr>
        <p:spPr>
          <a:xfrm>
            <a:off x="640080" y="6309360"/>
            <a:ext cx="10515600" cy="365760"/>
          </a:xfrm>
          <a:prstGeom prst="rect">
            <a:avLst/>
          </a:prstGeom>
          <a:noFill/>
          <a:ln/>
        </p:spPr>
        <p:txBody>
          <a:bodyPr wrap="square" rtlCol="0" anchor="ctr"/>
          <a:lstStyle/>
          <a:p>
            <a:pPr marL="0" indent="0">
              <a:buNone/>
            </a:pPr>
            <a:r>
              <a:rPr lang="en-US" sz="1100" dirty="0">
                <a:solidFill>
                  <a:srgbClr val="6E6E6B"/>
                </a:solidFill>
                <a:latin typeface="Calibri" pitchFamily="34" charset="0"/>
                <a:ea typeface="Calibri" pitchFamily="34" charset="-122"/>
                <a:cs typeface="Calibri" pitchFamily="34" charset="-120"/>
              </a:rPr>
              <a:t>Thank you  ·  </a:t>
            </a:r>
            <a:r>
              <a:rPr lang="pl-PL" sz="1100" dirty="0">
                <a:solidFill>
                  <a:srgbClr val="6E6E6B"/>
                </a:solidFill>
                <a:latin typeface="Calibri" pitchFamily="34" charset="0"/>
                <a:ea typeface="Calibri" pitchFamily="34" charset="-122"/>
                <a:cs typeface="Calibri" pitchFamily="34" charset="-120"/>
              </a:rPr>
              <a:t>Dhwani Dalsania(24CP317)   ·   Isha Zalavadia (24CP316)</a:t>
            </a:r>
            <a:r>
              <a:rPr lang="en-US" sz="1100" dirty="0">
                <a:solidFill>
                  <a:srgbClr val="6E6E6B"/>
                </a:solidFill>
                <a:latin typeface="Calibri" pitchFamily="34" charset="0"/>
                <a:ea typeface="Calibri" pitchFamily="34" charset="-122"/>
                <a:cs typeface="Calibri" pitchFamily="34" charset="-120"/>
              </a:rPr>
              <a:t>    ·  4CP31, Computer Engineering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TotalTime>
  <Words>1061</Words>
  <Application>Microsoft Office PowerPoint</Application>
  <PresentationFormat>Widescreen</PresentationFormat>
  <Paragraphs>162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Proposal</dc:title>
  <dc:subject>PptxGenJS Presentation</dc:subject>
  <dc:creator>BVM Engineering College</dc:creator>
  <cp:lastModifiedBy>Dhwani Dalsania</cp:lastModifiedBy>
  <cp:revision>8</cp:revision>
  <dcterms:created xsi:type="dcterms:W3CDTF">2026-07-09T05:24:18Z</dcterms:created>
  <dcterms:modified xsi:type="dcterms:W3CDTF">2026-07-10T06:15:58Z</dcterms:modified>
</cp:coreProperties>
</file>